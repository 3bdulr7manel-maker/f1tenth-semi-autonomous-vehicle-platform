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18" r:id="rId3"/>
    <p:sldId id="417" r:id="rId4"/>
    <p:sldId id="439" r:id="rId5"/>
    <p:sldId id="448" r:id="rId6"/>
    <p:sldId id="440" r:id="rId7"/>
    <p:sldId id="447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6" r:id="rId23"/>
    <p:sldId id="464" r:id="rId24"/>
    <p:sldId id="467" r:id="rId25"/>
    <p:sldId id="468" r:id="rId26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85" autoAdjust="0"/>
    <p:restoredTop sz="94280" autoAdjust="0"/>
  </p:normalViewPr>
  <p:slideViewPr>
    <p:cSldViewPr snapToGrid="0" snapToObjects="1">
      <p:cViewPr varScale="1">
        <p:scale>
          <a:sx n="82" d="100"/>
          <a:sy n="82" d="100"/>
        </p:scale>
        <p:origin x="15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Roaming\Microsoft\Excel\Steering_Simulation_Results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AppData\Roaming\Microsoft\Excel\Steering_Simulation_Results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lod\Steering_Simulation_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lod\Steering_Simulation_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Outer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8106802906589842E-2"/>
          <c:y val="0.19040428641013155"/>
          <c:w val="0.85322399476666888"/>
          <c:h val="0.65433454403197167"/>
        </c:manualLayout>
      </c:layout>
      <c:scatterChart>
        <c:scatterStyle val="smoothMarker"/>
        <c:varyColors val="0"/>
        <c:ser>
          <c:idx val="0"/>
          <c:order val="0"/>
          <c:tx>
            <c:v>4link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Sheet1!$C$3:$C$27</c:f>
              <c:numCache>
                <c:formatCode>General</c:formatCode>
                <c:ptCount val="25"/>
                <c:pt idx="0">
                  <c:v>-0.54184156699999997</c:v>
                </c:pt>
                <c:pt idx="1">
                  <c:v>0.53983345199999999</c:v>
                </c:pt>
                <c:pt idx="2">
                  <c:v>1.6136648069999999</c:v>
                </c:pt>
                <c:pt idx="3">
                  <c:v>2.6799859619999999</c:v>
                </c:pt>
                <c:pt idx="4">
                  <c:v>3.7390633590000002</c:v>
                </c:pt>
                <c:pt idx="5">
                  <c:v>4.7911009240000002</c:v>
                </c:pt>
                <c:pt idx="6">
                  <c:v>5.836243917</c:v>
                </c:pt>
                <c:pt idx="7">
                  <c:v>6.8745822140000001</c:v>
                </c:pt>
                <c:pt idx="8">
                  <c:v>7.9061531409999999</c:v>
                </c:pt>
                <c:pt idx="9">
                  <c:v>8.9309439220000009</c:v>
                </c:pt>
                <c:pt idx="10">
                  <c:v>9.9488938260000008</c:v>
                </c:pt>
                <c:pt idx="11">
                  <c:v>10.95989606</c:v>
                </c:pt>
                <c:pt idx="12">
                  <c:v>11.96379947</c:v>
                </c:pt>
                <c:pt idx="13">
                  <c:v>12.96041009</c:v>
                </c:pt>
                <c:pt idx="14">
                  <c:v>13.94949257</c:v>
                </c:pt>
                <c:pt idx="15">
                  <c:v>14.930771529999999</c:v>
                </c:pt>
                <c:pt idx="16">
                  <c:v>15.90393289</c:v>
                </c:pt>
                <c:pt idx="17">
                  <c:v>16.86862515</c:v>
                </c:pt>
                <c:pt idx="18">
                  <c:v>17.824460670000001</c:v>
                </c:pt>
                <c:pt idx="19">
                  <c:v>18.771017069999999</c:v>
                </c:pt>
                <c:pt idx="20">
                  <c:v>19.707838540000001</c:v>
                </c:pt>
                <c:pt idx="21">
                  <c:v>20.634437349999999</c:v>
                </c:pt>
                <c:pt idx="22">
                  <c:v>21.550295349999999</c:v>
                </c:pt>
                <c:pt idx="23">
                  <c:v>22.454865649999999</c:v>
                </c:pt>
                <c:pt idx="24">
                  <c:v>23.347574340000001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C3B-4FA0-8381-1258FEAC3E0F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Sheet1!$O$3:$O$27</c:f>
              <c:numCache>
                <c:formatCode>General</c:formatCode>
                <c:ptCount val="25"/>
                <c:pt idx="0">
                  <c:v>0.61037832883142795</c:v>
                </c:pt>
                <c:pt idx="1">
                  <c:v>1.8200423707153943</c:v>
                </c:pt>
                <c:pt idx="2">
                  <c:v>3.0151632919373306</c:v>
                </c:pt>
                <c:pt idx="3">
                  <c:v>4.1960525281919594</c:v>
                </c:pt>
                <c:pt idx="4">
                  <c:v>5.3630368253028839</c:v>
                </c:pt>
                <c:pt idx="5">
                  <c:v>6.5164563328941432</c:v>
                </c:pt>
                <c:pt idx="6">
                  <c:v>7.6566628334107376</c:v>
                </c:pt>
                <c:pt idx="7">
                  <c:v>8.7840181051563082</c:v>
                </c:pt>
                <c:pt idx="8">
                  <c:v>9.898892416747584</c:v>
                </c:pt>
                <c:pt idx="9">
                  <c:v>11.001663149355034</c:v>
                </c:pt>
                <c:pt idx="10">
                  <c:v>12.092713542283571</c:v>
                </c:pt>
                <c:pt idx="11">
                  <c:v>13.172431556823145</c:v>
                </c:pt>
                <c:pt idx="12">
                  <c:v>14.241208852842876</c:v>
                </c:pt>
                <c:pt idx="13">
                  <c:v>15.299439872291975</c:v>
                </c:pt>
                <c:pt idx="14">
                  <c:v>16.347521023585234</c:v>
                </c:pt>
                <c:pt idx="15">
                  <c:v>17.385849960770837</c:v>
                </c:pt>
                <c:pt idx="16">
                  <c:v>18.414824951385786</c:v>
                </c:pt>
                <c:pt idx="17">
                  <c:v>19.434844326983633</c:v>
                </c:pt>
                <c:pt idx="18">
                  <c:v>20.446306010456102</c:v>
                </c:pt>
                <c:pt idx="19">
                  <c:v>21.449607114452007</c:v>
                </c:pt>
                <c:pt idx="20">
                  <c:v>22.445143605412568</c:v>
                </c:pt>
                <c:pt idx="21">
                  <c:v>23.433310027982568</c:v>
                </c:pt>
                <c:pt idx="22">
                  <c:v>24.414499284813733</c:v>
                </c:pt>
                <c:pt idx="23">
                  <c:v>25.389102467042797</c:v>
                </c:pt>
                <c:pt idx="24">
                  <c:v>26.357508730997207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C3B-4FA0-8381-1258FEAC3E0F}"/>
            </c:ext>
          </c:extLst>
        </c:ser>
        <c:ser>
          <c:idx val="2"/>
          <c:order val="2"/>
          <c:tx>
            <c:v>6link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Sheet1!$S$3:$S$27</c:f>
              <c:numCache>
                <c:formatCode>General</c:formatCode>
                <c:ptCount val="25"/>
                <c:pt idx="0">
                  <c:v>0.55071479199999995</c:v>
                </c:pt>
                <c:pt idx="1">
                  <c:v>1.6781877759999999</c:v>
                </c:pt>
                <c:pt idx="2">
                  <c:v>2.7961882660000001</c:v>
                </c:pt>
                <c:pt idx="3">
                  <c:v>3.9050035840000001</c:v>
                </c:pt>
                <c:pt idx="4">
                  <c:v>5.0048495940000004</c:v>
                </c:pt>
                <c:pt idx="5">
                  <c:v>6.0958755099999999</c:v>
                </c:pt>
                <c:pt idx="6">
                  <c:v>7.1781680349999997</c:v>
                </c:pt>
                <c:pt idx="7">
                  <c:v>8.2517549429999999</c:v>
                </c:pt>
                <c:pt idx="8">
                  <c:v>9.3166082079999999</c:v>
                </c:pt>
                <c:pt idx="9">
                  <c:v>10.37264676</c:v>
                </c:pt>
                <c:pt idx="10">
                  <c:v>11.419738949999999</c:v>
                </c:pt>
                <c:pt idx="11">
                  <c:v>12.457704789999999</c:v>
                </c:pt>
                <c:pt idx="12">
                  <c:v>13.48631799</c:v>
                </c:pt>
                <c:pt idx="13">
                  <c:v>14.505307869999999</c:v>
                </c:pt>
                <c:pt idx="14">
                  <c:v>15.51436122</c:v>
                </c:pt>
                <c:pt idx="15">
                  <c:v>16.513124049999998</c:v>
                </c:pt>
                <c:pt idx="16">
                  <c:v>17.50120334</c:v>
                </c:pt>
                <c:pt idx="17">
                  <c:v>18.47816882</c:v>
                </c:pt>
                <c:pt idx="18">
                  <c:v>19.44355474</c:v>
                </c:pt>
                <c:pt idx="19">
                  <c:v>20.39686171</c:v>
                </c:pt>
                <c:pt idx="20">
                  <c:v>21.33755863</c:v>
                </c:pt>
                <c:pt idx="21">
                  <c:v>22.265084680000001</c:v>
                </c:pt>
                <c:pt idx="22">
                  <c:v>23.178851430000002</c:v>
                </c:pt>
                <c:pt idx="23">
                  <c:v>24.078245020000001</c:v>
                </c:pt>
                <c:pt idx="24">
                  <c:v>24.962628519999999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C3B-4FA0-8381-1258FEAC3E0F}"/>
            </c:ext>
          </c:extLst>
        </c:ser>
        <c:ser>
          <c:idx val="3"/>
          <c:order val="3"/>
          <c:tx>
            <c:v>bef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Sheet1!$E$3:$E$27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Sheet1!$G$3:$G$27</c:f>
              <c:numCache>
                <c:formatCode>General</c:formatCode>
                <c:ptCount val="25"/>
                <c:pt idx="0">
                  <c:v>-4.7361095903491321</c:v>
                </c:pt>
                <c:pt idx="1">
                  <c:v>-3.2312323063413717</c:v>
                </c:pt>
                <c:pt idx="2">
                  <c:v>-1.7532529992546706</c:v>
                </c:pt>
                <c:pt idx="3">
                  <c:v>-0.30030868602330407</c:v>
                </c:pt>
                <c:pt idx="4">
                  <c:v>1.1291651535620788</c:v>
                </c:pt>
                <c:pt idx="5">
                  <c:v>2.5364763812616258</c:v>
                </c:pt>
                <c:pt idx="6">
                  <c:v>3.9227114634438167</c:v>
                </c:pt>
                <c:pt idx="7">
                  <c:v>5.2887619152095873</c:v>
                </c:pt>
                <c:pt idx="8">
                  <c:v>6.635347553392724</c:v>
                </c:pt>
                <c:pt idx="9">
                  <c:v>7.9630351088959692</c:v>
                </c:pt>
                <c:pt idx="10">
                  <c:v>9.2722538634163367</c:v>
                </c:pt>
                <c:pt idx="11">
                  <c:v>10.563308825944645</c:v>
                </c:pt>
                <c:pt idx="12">
                  <c:v>11.836391947713222</c:v>
                </c:pt>
                <c:pt idx="13">
                  <c:v>13.091591769126753</c:v>
                </c:pt>
                <c:pt idx="14">
                  <c:v>14.328901814065475</c:v>
                </c:pt>
                <c:pt idx="15">
                  <c:v>15.548227985405822</c:v>
                </c:pt>
                <c:pt idx="16">
                  <c:v>16.74939516931536</c:v>
                </c:pt>
                <c:pt idx="17">
                  <c:v>17.932153216917648</c:v>
                </c:pt>
                <c:pt idx="18">
                  <c:v>19.096182444802032</c:v>
                </c:pt>
                <c:pt idx="19">
                  <c:v>20.241098768812744</c:v>
                </c:pt>
                <c:pt idx="20">
                  <c:v>21.366458568763207</c:v>
                </c:pt>
                <c:pt idx="21">
                  <c:v>22.471763363520676</c:v>
                </c:pt>
                <c:pt idx="22">
                  <c:v>23.556464362200394</c:v>
                </c:pt>
                <c:pt idx="23">
                  <c:v>24.619966946315969</c:v>
                </c:pt>
                <c:pt idx="24">
                  <c:v>25.661635124889891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C3B-4FA0-8381-1258FEAC3E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Inner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4link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Sheet1!$B$3:$B$27</c:f>
              <c:numCache>
                <c:formatCode>General</c:formatCode>
                <c:ptCount val="25"/>
                <c:pt idx="0">
                  <c:v>-0.53983345199999999</c:v>
                </c:pt>
                <c:pt idx="1">
                  <c:v>0.54184156699999997</c:v>
                </c:pt>
                <c:pt idx="2">
                  <c:v>1.6317660730000001</c:v>
                </c:pt>
                <c:pt idx="3">
                  <c:v>2.7304245520000001</c:v>
                </c:pt>
                <c:pt idx="4">
                  <c:v>3.838387666</c:v>
                </c:pt>
                <c:pt idx="5">
                  <c:v>4.9563212249999999</c:v>
                </c:pt>
                <c:pt idx="6">
                  <c:v>6.084996962</c:v>
                </c:pt>
                <c:pt idx="7">
                  <c:v>7.2253055220000002</c:v>
                </c:pt>
                <c:pt idx="8">
                  <c:v>8.3782722379999992</c:v>
                </c:pt>
                <c:pt idx="9">
                  <c:v>9.5450763829999996</c:v>
                </c:pt>
                <c:pt idx="10">
                  <c:v>10.727074849999999</c:v>
                </c:pt>
                <c:pt idx="11">
                  <c:v>11.92583151</c:v>
                </c:pt>
                <c:pt idx="12">
                  <c:v>13.143153959999999</c:v>
                </c:pt>
                <c:pt idx="13">
                  <c:v>14.381139879999999</c:v>
                </c:pt>
                <c:pt idx="14">
                  <c:v>15.642236479999999</c:v>
                </c:pt>
                <c:pt idx="15">
                  <c:v>16.929317279999999</c:v>
                </c:pt>
                <c:pt idx="16">
                  <c:v>18.245783240000002</c:v>
                </c:pt>
                <c:pt idx="17">
                  <c:v>19.595697850000001</c:v>
                </c:pt>
                <c:pt idx="18">
                  <c:v>20.983971440000001</c:v>
                </c:pt>
                <c:pt idx="19">
                  <c:v>22.416618020000001</c:v>
                </c:pt>
                <c:pt idx="20">
                  <c:v>23.90112311</c:v>
                </c:pt>
                <c:pt idx="21">
                  <c:v>25.446986729999999</c:v>
                </c:pt>
                <c:pt idx="22">
                  <c:v>27.06655563</c:v>
                </c:pt>
                <c:pt idx="23">
                  <c:v>28.776357910000002</c:v>
                </c:pt>
                <c:pt idx="24">
                  <c:v>30.599368210000002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8B6-4C3A-B128-375C2EFDF99A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Sheet1!$N$3:$N$27</c:f>
              <c:numCache>
                <c:formatCode>General</c:formatCode>
                <c:ptCount val="25"/>
                <c:pt idx="0">
                  <c:v>0.61412291780035178</c:v>
                </c:pt>
                <c:pt idx="1">
                  <c:v>1.8537359270322757</c:v>
                </c:pt>
                <c:pt idx="2">
                  <c:v>3.1087134268286856</c:v>
                </c:pt>
                <c:pt idx="3">
                  <c:v>4.3792838891121564</c:v>
                </c:pt>
                <c:pt idx="4">
                  <c:v>5.6656489903717357</c:v>
                </c:pt>
                <c:pt idx="5">
                  <c:v>6.9679809713354866</c:v>
                </c:pt>
                <c:pt idx="6">
                  <c:v>8.2864199113469681</c:v>
                </c:pt>
                <c:pt idx="7">
                  <c:v>9.6210709366919005</c:v>
                </c:pt>
                <c:pt idx="8">
                  <c:v>10.972001385955325</c:v>
                </c:pt>
                <c:pt idx="9">
                  <c:v>12.339237959492401</c:v>
                </c:pt>
                <c:pt idx="10">
                  <c:v>13.722763884190458</c:v>
                </c:pt>
                <c:pt idx="11">
                  <c:v>15.122516128789798</c:v>
                </c:pt>
                <c:pt idx="12">
                  <c:v>16.538382708999261</c:v>
                </c:pt>
                <c:pt idx="13">
                  <c:v>17.970200125354566</c:v>
                </c:pt>
                <c:pt idx="14">
                  <c:v>19.417750980069727</c:v>
                </c:pt>
                <c:pt idx="15">
                  <c:v>20.880761821857039</c:v>
                </c:pt>
                <c:pt idx="16">
                  <c:v>22.358901269662265</c:v>
                </c:pt>
                <c:pt idx="17">
                  <c:v>23.851778467298715</c:v>
                </c:pt>
                <c:pt idx="18">
                  <c:v>25.358941920890324</c:v>
                </c:pt>
                <c:pt idx="19">
                  <c:v>26.87987876968846</c:v>
                </c:pt>
                <c:pt idx="20">
                  <c:v>28.414014538071125</c:v>
                </c:pt>
                <c:pt idx="21">
                  <c:v>29.960713412264134</c:v>
                </c:pt>
                <c:pt idx="22">
                  <c:v>31.519279079485003</c:v>
                </c:pt>
                <c:pt idx="23">
                  <c:v>33.088956159800311</c:v>
                </c:pt>
                <c:pt idx="24">
                  <c:v>34.66893225207167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8B6-4C3A-B128-375C2EFDF99A}"/>
            </c:ext>
          </c:extLst>
        </c:ser>
        <c:ser>
          <c:idx val="2"/>
          <c:order val="2"/>
          <c:tx>
            <c:v>6link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Sheet1!$R$3:$R$27</c:f>
              <c:numCache>
                <c:formatCode>General</c:formatCode>
                <c:ptCount val="25"/>
                <c:pt idx="0">
                  <c:v>0.58659512899999999</c:v>
                </c:pt>
                <c:pt idx="1">
                  <c:v>1.734190176</c:v>
                </c:pt>
                <c:pt idx="2">
                  <c:v>2.8926101559999999</c:v>
                </c:pt>
                <c:pt idx="3">
                  <c:v>4.0624958969999998</c:v>
                </c:pt>
                <c:pt idx="4">
                  <c:v>5.2446004620000002</c:v>
                </c:pt>
                <c:pt idx="5">
                  <c:v>6.4398026860000002</c:v>
                </c:pt>
                <c:pt idx="6">
                  <c:v>7.6491235619999998</c:v>
                </c:pt>
                <c:pt idx="7">
                  <c:v>8.8737462469999997</c:v>
                </c:pt>
                <c:pt idx="8">
                  <c:v>10.115040629999999</c:v>
                </c:pt>
                <c:pt idx="9">
                  <c:v>11.374593770000001</c:v>
                </c:pt>
                <c:pt idx="10">
                  <c:v>12.65424797</c:v>
                </c:pt>
                <c:pt idx="11">
                  <c:v>13.95614909</c:v>
                </c:pt>
                <c:pt idx="12">
                  <c:v>15.28280734</c:v>
                </c:pt>
                <c:pt idx="13">
                  <c:v>16.63717763</c:v>
                </c:pt>
                <c:pt idx="14">
                  <c:v>18.022763609999998</c:v>
                </c:pt>
                <c:pt idx="15">
                  <c:v>19.44375746</c:v>
                </c:pt>
                <c:pt idx="16">
                  <c:v>20.905230110000002</c:v>
                </c:pt>
                <c:pt idx="17">
                  <c:v>22.41339623</c:v>
                </c:pt>
                <c:pt idx="18">
                  <c:v>23.975993150000001</c:v>
                </c:pt>
                <c:pt idx="19">
                  <c:v>25.60283948</c:v>
                </c:pt>
                <c:pt idx="20">
                  <c:v>27.306689859999999</c:v>
                </c:pt>
                <c:pt idx="21">
                  <c:v>29.104602700000001</c:v>
                </c:pt>
                <c:pt idx="22">
                  <c:v>31.020255670000001</c:v>
                </c:pt>
                <c:pt idx="23">
                  <c:v>33.088157580000001</c:v>
                </c:pt>
                <c:pt idx="24">
                  <c:v>35.362089939999997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8B6-4C3A-B128-375C2EFDF99A}"/>
            </c:ext>
          </c:extLst>
        </c:ser>
        <c:ser>
          <c:idx val="3"/>
          <c:order val="3"/>
          <c:tx>
            <c:v>before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Sheet1!$E$3:$E$27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Sheet1!$F$3:$F$27</c:f>
              <c:numCache>
                <c:formatCode>General</c:formatCode>
                <c:ptCount val="25"/>
                <c:pt idx="0">
                  <c:v>6.2700997622747661</c:v>
                </c:pt>
                <c:pt idx="1">
                  <c:v>7.8358375797927255</c:v>
                </c:pt>
                <c:pt idx="2">
                  <c:v>9.4364652477537874</c:v>
                </c:pt>
                <c:pt idx="3">
                  <c:v>11.075747056996327</c:v>
                </c:pt>
                <c:pt idx="4">
                  <c:v>12.758222125751333</c:v>
                </c:pt>
                <c:pt idx="5">
                  <c:v>14.489410739940897</c:v>
                </c:pt>
                <c:pt idx="6">
                  <c:v>16.276101383737718</c:v>
                </c:pt>
                <c:pt idx="7">
                  <c:v>18.126757457717755</c:v>
                </c:pt>
                <c:pt idx="8">
                  <c:v>20.052112852710227</c:v>
                </c:pt>
                <c:pt idx="9">
                  <c:v>22.066074600418997</c:v>
                </c:pt>
                <c:pt idx="10">
                  <c:v>24.187150967125742</c:v>
                </c:pt>
                <c:pt idx="11">
                  <c:v>26.440834237379992</c:v>
                </c:pt>
                <c:pt idx="12">
                  <c:v>28.863855410456459</c:v>
                </c:pt>
                <c:pt idx="13">
                  <c:v>31.512496221980811</c:v>
                </c:pt>
                <c:pt idx="14">
                  <c:v>34.480996305659865</c:v>
                </c:pt>
                <c:pt idx="15">
                  <c:v>37.950891422060351</c:v>
                </c:pt>
                <c:pt idx="16">
                  <c:v>42.376749778337086</c:v>
                </c:pt>
                <c:pt idx="17">
                  <c:v>50.55383807124381</c:v>
                </c:pt>
                <c:pt idx="18">
                  <c:v>53.711223148656167</c:v>
                </c:pt>
                <c:pt idx="19">
                  <c:v>53.69520403086522</c:v>
                </c:pt>
                <c:pt idx="20">
                  <c:v>53.672748900957686</c:v>
                </c:pt>
                <c:pt idx="21">
                  <c:v>53.643968292178101</c:v>
                </c:pt>
                <c:pt idx="22">
                  <c:v>53.608980451853391</c:v>
                </c:pt>
                <c:pt idx="23">
                  <c:v>53.567891283455126</c:v>
                </c:pt>
                <c:pt idx="24">
                  <c:v>53.520818432209538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8B6-4C3A-B128-375C2EFDF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6-link Inner Wheel </a:t>
            </a:r>
          </a:p>
        </c:rich>
      </c:tx>
      <c:layout>
        <c:manualLayout>
          <c:xMode val="edge"/>
          <c:yMode val="edge"/>
          <c:x val="0.2768703597944032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305414558397847E-2"/>
          <c:y val="0.15005182633276415"/>
          <c:w val="0.88155478176001245"/>
          <c:h val="0.49783338691124013"/>
        </c:manualLayout>
      </c:layout>
      <c:scatterChart>
        <c:scatterStyle val="smoothMarker"/>
        <c:varyColors val="0"/>
        <c:ser>
          <c:idx val="0"/>
          <c:order val="0"/>
          <c:tx>
            <c:v>step size 0.4 (29.95mm,17.15 deg)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Sheet1!$AB$40:$AB$64</c:f>
              <c:numCache>
                <c:formatCode>General</c:formatCode>
                <c:ptCount val="25"/>
                <c:pt idx="0">
                  <c:v>-2.511705305619941</c:v>
                </c:pt>
                <c:pt idx="1">
                  <c:v>-1.435839258766562</c:v>
                </c:pt>
                <c:pt idx="2">
                  <c:v>-0.35191401814832507</c:v>
                </c:pt>
                <c:pt idx="3">
                  <c:v>0.74048081071567318</c:v>
                </c:pt>
                <c:pt idx="4">
                  <c:v>1.8418344141439686</c:v>
                </c:pt>
                <c:pt idx="5">
                  <c:v>2.9527222371007174</c:v>
                </c:pt>
                <c:pt idx="6">
                  <c:v>4.0738152514671615</c:v>
                </c:pt>
                <c:pt idx="7">
                  <c:v>5.2058907991916525</c:v>
                </c:pt>
                <c:pt idx="8">
                  <c:v>6.3498457860866893</c:v>
                </c:pt>
                <c:pt idx="9">
                  <c:v>7.5067126667323185</c:v>
                </c:pt>
                <c:pt idx="10">
                  <c:v>8.677678960988505</c:v>
                </c:pt>
                <c:pt idx="11">
                  <c:v>9.8641112547646568</c:v>
                </c:pt>
                <c:pt idx="12">
                  <c:v>11.067584955147479</c:v>
                </c:pt>
                <c:pt idx="13">
                  <c:v>12.289921628218236</c:v>
                </c:pt>
                <c:pt idx="14">
                  <c:v>13.533235807746177</c:v>
                </c:pt>
                <c:pt idx="15">
                  <c:v>14.799995523220231</c:v>
                </c:pt>
                <c:pt idx="16">
                  <c:v>16.093100165774942</c:v>
                </c:pt>
                <c:pt idx="17">
                  <c:v>17.415983182157884</c:v>
                </c:pt>
                <c:pt idx="18">
                  <c:v>18.7727494417732</c:v>
                </c:pt>
                <c:pt idx="19">
                  <c:v>20.16836268164365</c:v>
                </c:pt>
                <c:pt idx="20">
                  <c:v>21.608907142583327</c:v>
                </c:pt>
                <c:pt idx="21">
                  <c:v>23.101962548320742</c:v>
                </c:pt>
                <c:pt idx="22">
                  <c:v>24.657158593215478</c:v>
                </c:pt>
                <c:pt idx="23">
                  <c:v>26.287026195719591</c:v>
                </c:pt>
                <c:pt idx="24">
                  <c:v>28.008365584729717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9BC-43A9-AF85-E10BC0817434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Sheet1!$N$3:$N$27</c:f>
              <c:numCache>
                <c:formatCode>General</c:formatCode>
                <c:ptCount val="25"/>
                <c:pt idx="0">
                  <c:v>0.61412291780035178</c:v>
                </c:pt>
                <c:pt idx="1">
                  <c:v>1.8537359270322757</c:v>
                </c:pt>
                <c:pt idx="2">
                  <c:v>3.1087134268286856</c:v>
                </c:pt>
                <c:pt idx="3">
                  <c:v>4.3792838891121564</c:v>
                </c:pt>
                <c:pt idx="4">
                  <c:v>5.6656489903717357</c:v>
                </c:pt>
                <c:pt idx="5">
                  <c:v>6.9679809713354866</c:v>
                </c:pt>
                <c:pt idx="6">
                  <c:v>8.2864199113469681</c:v>
                </c:pt>
                <c:pt idx="7">
                  <c:v>9.6210709366919005</c:v>
                </c:pt>
                <c:pt idx="8">
                  <c:v>10.972001385955325</c:v>
                </c:pt>
                <c:pt idx="9">
                  <c:v>12.339237959492401</c:v>
                </c:pt>
                <c:pt idx="10">
                  <c:v>13.722763884190458</c:v>
                </c:pt>
                <c:pt idx="11">
                  <c:v>15.122516128789798</c:v>
                </c:pt>
                <c:pt idx="12">
                  <c:v>16.538382708999261</c:v>
                </c:pt>
                <c:pt idx="13">
                  <c:v>17.970200125354566</c:v>
                </c:pt>
                <c:pt idx="14">
                  <c:v>19.417750980069727</c:v>
                </c:pt>
                <c:pt idx="15">
                  <c:v>20.880761821857039</c:v>
                </c:pt>
                <c:pt idx="16">
                  <c:v>22.358901269662265</c:v>
                </c:pt>
                <c:pt idx="17">
                  <c:v>23.851778467298715</c:v>
                </c:pt>
                <c:pt idx="18">
                  <c:v>25.358941920890324</c:v>
                </c:pt>
                <c:pt idx="19">
                  <c:v>26.87987876968846</c:v>
                </c:pt>
                <c:pt idx="20">
                  <c:v>28.414014538071125</c:v>
                </c:pt>
                <c:pt idx="21">
                  <c:v>29.960713412264134</c:v>
                </c:pt>
                <c:pt idx="22">
                  <c:v>31.519279079485003</c:v>
                </c:pt>
                <c:pt idx="23">
                  <c:v>33.088956159800311</c:v>
                </c:pt>
                <c:pt idx="24">
                  <c:v>34.66893225207167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9BC-43A9-AF85-E10BC0817434}"/>
            </c:ext>
          </c:extLst>
        </c:ser>
        <c:ser>
          <c:idx val="2"/>
          <c:order val="2"/>
          <c:tx>
            <c:v>step size 0.3 (28.45mm,15.65°)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Sheet1!$AH$40:$AH$64</c:f>
              <c:numCache>
                <c:formatCode>General</c:formatCode>
                <c:ptCount val="25"/>
                <c:pt idx="0">
                  <c:v>0.58659512899999999</c:v>
                </c:pt>
                <c:pt idx="1">
                  <c:v>1.734190176</c:v>
                </c:pt>
                <c:pt idx="2">
                  <c:v>2.8926101559999999</c:v>
                </c:pt>
                <c:pt idx="3">
                  <c:v>4.0624958969999998</c:v>
                </c:pt>
                <c:pt idx="4">
                  <c:v>5.2446004620000002</c:v>
                </c:pt>
                <c:pt idx="5">
                  <c:v>6.4398026860000002</c:v>
                </c:pt>
                <c:pt idx="6">
                  <c:v>7.6491235619999998</c:v>
                </c:pt>
                <c:pt idx="7">
                  <c:v>8.8737462469999997</c:v>
                </c:pt>
                <c:pt idx="8">
                  <c:v>10.115040629999999</c:v>
                </c:pt>
                <c:pt idx="9">
                  <c:v>11.374593770000001</c:v>
                </c:pt>
                <c:pt idx="10">
                  <c:v>12.65424797</c:v>
                </c:pt>
                <c:pt idx="11">
                  <c:v>13.95614909</c:v>
                </c:pt>
                <c:pt idx="12">
                  <c:v>15.28280734</c:v>
                </c:pt>
                <c:pt idx="13">
                  <c:v>16.63717763</c:v>
                </c:pt>
                <c:pt idx="14">
                  <c:v>18.022763609999998</c:v>
                </c:pt>
                <c:pt idx="15">
                  <c:v>19.44375746</c:v>
                </c:pt>
                <c:pt idx="16">
                  <c:v>20.905230110000002</c:v>
                </c:pt>
                <c:pt idx="17">
                  <c:v>22.41339623</c:v>
                </c:pt>
                <c:pt idx="18">
                  <c:v>23.975993150000001</c:v>
                </c:pt>
                <c:pt idx="19">
                  <c:v>25.60283948</c:v>
                </c:pt>
                <c:pt idx="20">
                  <c:v>27.306689859999999</c:v>
                </c:pt>
                <c:pt idx="21">
                  <c:v>29.104602700000001</c:v>
                </c:pt>
                <c:pt idx="22">
                  <c:v>31.020255670000001</c:v>
                </c:pt>
                <c:pt idx="23">
                  <c:v>33.088157580000001</c:v>
                </c:pt>
                <c:pt idx="24">
                  <c:v>35.362089939999997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9BC-43A9-AF85-E10BC0817434}"/>
            </c:ext>
          </c:extLst>
        </c:ser>
        <c:ser>
          <c:idx val="3"/>
          <c:order val="3"/>
          <c:tx>
            <c:v>step size 0.2 (29.95mm,17.15°)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Sheet1!$E$3:$E$27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Sheet1!$AM$40:$AM$64</c:f>
              <c:numCache>
                <c:formatCode>General</c:formatCode>
                <c:ptCount val="25"/>
                <c:pt idx="0">
                  <c:v>-2.511705305619941</c:v>
                </c:pt>
                <c:pt idx="1">
                  <c:v>-1.435839258766562</c:v>
                </c:pt>
                <c:pt idx="2">
                  <c:v>-0.35191401814832507</c:v>
                </c:pt>
                <c:pt idx="3">
                  <c:v>0.74048081071567318</c:v>
                </c:pt>
                <c:pt idx="4">
                  <c:v>1.8418344141439686</c:v>
                </c:pt>
                <c:pt idx="5">
                  <c:v>2.9527222371007174</c:v>
                </c:pt>
                <c:pt idx="6">
                  <c:v>4.0738152514671615</c:v>
                </c:pt>
                <c:pt idx="7">
                  <c:v>5.2058907991916525</c:v>
                </c:pt>
                <c:pt idx="8">
                  <c:v>6.3498457860866893</c:v>
                </c:pt>
                <c:pt idx="9">
                  <c:v>7.5067126667323185</c:v>
                </c:pt>
                <c:pt idx="10">
                  <c:v>8.677678960988505</c:v>
                </c:pt>
                <c:pt idx="11">
                  <c:v>9.8641112547646568</c:v>
                </c:pt>
                <c:pt idx="12">
                  <c:v>11.067584955147479</c:v>
                </c:pt>
                <c:pt idx="13">
                  <c:v>12.289921628218236</c:v>
                </c:pt>
                <c:pt idx="14">
                  <c:v>13.533235807746177</c:v>
                </c:pt>
                <c:pt idx="15">
                  <c:v>14.799995523220231</c:v>
                </c:pt>
                <c:pt idx="16">
                  <c:v>16.093100165774942</c:v>
                </c:pt>
                <c:pt idx="17">
                  <c:v>17.415983182157884</c:v>
                </c:pt>
                <c:pt idx="18">
                  <c:v>18.7727494417732</c:v>
                </c:pt>
                <c:pt idx="19">
                  <c:v>20.16836268164365</c:v>
                </c:pt>
                <c:pt idx="20">
                  <c:v>21.608907142583327</c:v>
                </c:pt>
                <c:pt idx="21">
                  <c:v>23.101962548320742</c:v>
                </c:pt>
                <c:pt idx="22">
                  <c:v>24.657158593215478</c:v>
                </c:pt>
                <c:pt idx="23">
                  <c:v>26.287026195719591</c:v>
                </c:pt>
                <c:pt idx="24">
                  <c:v>28.008365584729717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9BC-43A9-AF85-E10BC0817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444547316893996"/>
          <c:y val="0.67011561607596737"/>
          <c:w val="0.57208874771074703"/>
          <c:h val="0.329884383924032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6-link  Outer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079517838048022E-2"/>
          <c:y val="0.13150489375032054"/>
          <c:w val="0.83753839797803054"/>
          <c:h val="0.51313637810054868"/>
        </c:manualLayout>
      </c:layout>
      <c:scatterChart>
        <c:scatterStyle val="smoothMarker"/>
        <c:varyColors val="0"/>
        <c:ser>
          <c:idx val="0"/>
          <c:order val="0"/>
          <c:tx>
            <c:v>step size 0.4 (29.95mm,17.15 deg)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Sheet1!$AC$40:$AC$64</c:f>
              <c:numCache>
                <c:formatCode>General</c:formatCode>
                <c:ptCount val="25"/>
                <c:pt idx="0">
                  <c:v>3.579850250893025</c:v>
                </c:pt>
                <c:pt idx="1">
                  <c:v>4.6405452896161705</c:v>
                </c:pt>
                <c:pt idx="2">
                  <c:v>5.6939993150413555</c:v>
                </c:pt>
                <c:pt idx="3">
                  <c:v>6.7403628351124416</c:v>
                </c:pt>
                <c:pt idx="4">
                  <c:v>7.7797313264008539</c:v>
                </c:pt>
                <c:pt idx="5">
                  <c:v>8.8121481230106262</c:v>
                </c:pt>
                <c:pt idx="6">
                  <c:v>9.8376069223180664</c:v>
                </c:pt>
                <c:pt idx="7">
                  <c:v>10.856053977037076</c:v>
                </c:pt>
                <c:pt idx="8">
                  <c:v>11.867390032970894</c:v>
                </c:pt>
                <c:pt idx="9">
                  <c:v>12.871472064017247</c:v>
                </c:pt>
                <c:pt idx="10">
                  <c:v>13.868114849186505</c:v>
                </c:pt>
                <c:pt idx="11">
                  <c:v>14.857092431067374</c:v>
                </c:pt>
                <c:pt idx="12">
                  <c:v>15.83813949087282</c:v>
                </c:pt>
                <c:pt idx="13">
                  <c:v>16.810952670877239</c:v>
                </c:pt>
                <c:pt idx="14">
                  <c:v>17.775191872703473</c:v>
                </c:pt>
                <c:pt idx="15">
                  <c:v>18.730481556110036</c:v>
                </c:pt>
                <c:pt idx="16">
                  <c:v>19.676412061134236</c:v>
                </c:pt>
                <c:pt idx="17">
                  <c:v>20.612540973462064</c:v>
                </c:pt>
                <c:pt idx="18">
                  <c:v>21.538394551251393</c:v>
                </c:pt>
                <c:pt idx="19">
                  <c:v>22.453469229095283</c:v>
                </c:pt>
                <c:pt idx="20">
                  <c:v>23.357233212698706</c:v>
                </c:pt>
                <c:pt idx="21">
                  <c:v>24.249128175565676</c:v>
                </c:pt>
                <c:pt idx="22">
                  <c:v>25.128571068458385</c:v>
                </c:pt>
                <c:pt idx="23">
                  <c:v>25.994956044292323</c:v>
                </c:pt>
                <c:pt idx="24">
                  <c:v>26.847656509554383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8E0-49E8-9A6B-31BD79AA43FC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Sheet1!$O$3:$O$27</c:f>
              <c:numCache>
                <c:formatCode>General</c:formatCode>
                <c:ptCount val="25"/>
                <c:pt idx="0">
                  <c:v>0.61037832883142795</c:v>
                </c:pt>
                <c:pt idx="1">
                  <c:v>1.8200423707153943</c:v>
                </c:pt>
                <c:pt idx="2">
                  <c:v>3.0151632919373306</c:v>
                </c:pt>
                <c:pt idx="3">
                  <c:v>4.1960525281919594</c:v>
                </c:pt>
                <c:pt idx="4">
                  <c:v>5.3630368253028839</c:v>
                </c:pt>
                <c:pt idx="5">
                  <c:v>6.5164563328941432</c:v>
                </c:pt>
                <c:pt idx="6">
                  <c:v>7.6566628334107376</c:v>
                </c:pt>
                <c:pt idx="7">
                  <c:v>8.7840181051563082</c:v>
                </c:pt>
                <c:pt idx="8">
                  <c:v>9.898892416747584</c:v>
                </c:pt>
                <c:pt idx="9">
                  <c:v>11.001663149355034</c:v>
                </c:pt>
                <c:pt idx="10">
                  <c:v>12.092713542283571</c:v>
                </c:pt>
                <c:pt idx="11">
                  <c:v>13.172431556823145</c:v>
                </c:pt>
                <c:pt idx="12">
                  <c:v>14.241208852842876</c:v>
                </c:pt>
                <c:pt idx="13">
                  <c:v>15.299439872291975</c:v>
                </c:pt>
                <c:pt idx="14">
                  <c:v>16.347521023585234</c:v>
                </c:pt>
                <c:pt idx="15">
                  <c:v>17.385849960770837</c:v>
                </c:pt>
                <c:pt idx="16">
                  <c:v>18.414824951385786</c:v>
                </c:pt>
                <c:pt idx="17">
                  <c:v>19.434844326983633</c:v>
                </c:pt>
                <c:pt idx="18">
                  <c:v>20.446306010456102</c:v>
                </c:pt>
                <c:pt idx="19">
                  <c:v>21.449607114452007</c:v>
                </c:pt>
                <c:pt idx="20">
                  <c:v>22.445143605412568</c:v>
                </c:pt>
                <c:pt idx="21">
                  <c:v>23.433310027982568</c:v>
                </c:pt>
                <c:pt idx="22">
                  <c:v>24.414499284813733</c:v>
                </c:pt>
                <c:pt idx="23">
                  <c:v>25.389102467042797</c:v>
                </c:pt>
                <c:pt idx="24">
                  <c:v>26.357508730997207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8E0-49E8-9A6B-31BD79AA43FC}"/>
            </c:ext>
          </c:extLst>
        </c:ser>
        <c:ser>
          <c:idx val="2"/>
          <c:order val="2"/>
          <c:tx>
            <c:v>step size 0.3 (28.45mm,15.65°)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Sheet1!$M$3:$M$27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Sheet1!$S$3:$S$27</c:f>
              <c:numCache>
                <c:formatCode>General</c:formatCode>
                <c:ptCount val="25"/>
                <c:pt idx="0">
                  <c:v>0.55071479199999995</c:v>
                </c:pt>
                <c:pt idx="1">
                  <c:v>1.6781877759999999</c:v>
                </c:pt>
                <c:pt idx="2">
                  <c:v>2.7961882660000001</c:v>
                </c:pt>
                <c:pt idx="3">
                  <c:v>3.9050035840000001</c:v>
                </c:pt>
                <c:pt idx="4">
                  <c:v>5.0048495940000004</c:v>
                </c:pt>
                <c:pt idx="5">
                  <c:v>6.0958755099999999</c:v>
                </c:pt>
                <c:pt idx="6">
                  <c:v>7.1781680349999997</c:v>
                </c:pt>
                <c:pt idx="7">
                  <c:v>8.2517549429999999</c:v>
                </c:pt>
                <c:pt idx="8">
                  <c:v>9.3166082079999999</c:v>
                </c:pt>
                <c:pt idx="9">
                  <c:v>10.37264676</c:v>
                </c:pt>
                <c:pt idx="10">
                  <c:v>11.419738949999999</c:v>
                </c:pt>
                <c:pt idx="11">
                  <c:v>12.457704789999999</c:v>
                </c:pt>
                <c:pt idx="12">
                  <c:v>13.48631799</c:v>
                </c:pt>
                <c:pt idx="13">
                  <c:v>14.505307869999999</c:v>
                </c:pt>
                <c:pt idx="14">
                  <c:v>15.51436122</c:v>
                </c:pt>
                <c:pt idx="15">
                  <c:v>16.513124049999998</c:v>
                </c:pt>
                <c:pt idx="16">
                  <c:v>17.50120334</c:v>
                </c:pt>
                <c:pt idx="17">
                  <c:v>18.47816882</c:v>
                </c:pt>
                <c:pt idx="18">
                  <c:v>19.44355474</c:v>
                </c:pt>
                <c:pt idx="19">
                  <c:v>20.39686171</c:v>
                </c:pt>
                <c:pt idx="20">
                  <c:v>21.33755863</c:v>
                </c:pt>
                <c:pt idx="21">
                  <c:v>22.265084680000001</c:v>
                </c:pt>
                <c:pt idx="22">
                  <c:v>23.178851430000002</c:v>
                </c:pt>
                <c:pt idx="23">
                  <c:v>24.078245020000001</c:v>
                </c:pt>
                <c:pt idx="24">
                  <c:v>24.962628519999999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8E0-49E8-9A6B-31BD79AA43FC}"/>
            </c:ext>
          </c:extLst>
        </c:ser>
        <c:ser>
          <c:idx val="3"/>
          <c:order val="3"/>
          <c:tx>
            <c:v>step size 0.2 (29.95mm,17.15°)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Sheet1!$E$3:$E$27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Sheet1!$AN$40:$AN$64</c:f>
              <c:numCache>
                <c:formatCode>General</c:formatCode>
                <c:ptCount val="25"/>
                <c:pt idx="0">
                  <c:v>3.579850250893025</c:v>
                </c:pt>
                <c:pt idx="1">
                  <c:v>4.6405452896161705</c:v>
                </c:pt>
                <c:pt idx="2">
                  <c:v>5.6939993150413555</c:v>
                </c:pt>
                <c:pt idx="3">
                  <c:v>6.7403628351124416</c:v>
                </c:pt>
                <c:pt idx="4">
                  <c:v>7.7797313264008539</c:v>
                </c:pt>
                <c:pt idx="5">
                  <c:v>8.8121481230106262</c:v>
                </c:pt>
                <c:pt idx="6">
                  <c:v>9.8376069223180664</c:v>
                </c:pt>
                <c:pt idx="7">
                  <c:v>10.856053977037076</c:v>
                </c:pt>
                <c:pt idx="8">
                  <c:v>11.867390032970894</c:v>
                </c:pt>
                <c:pt idx="9">
                  <c:v>12.871472064017247</c:v>
                </c:pt>
                <c:pt idx="10">
                  <c:v>13.868114849186505</c:v>
                </c:pt>
                <c:pt idx="11">
                  <c:v>14.857092431067374</c:v>
                </c:pt>
                <c:pt idx="12">
                  <c:v>15.83813949087282</c:v>
                </c:pt>
                <c:pt idx="13">
                  <c:v>16.810952670877239</c:v>
                </c:pt>
                <c:pt idx="14">
                  <c:v>17.775191872703473</c:v>
                </c:pt>
                <c:pt idx="15">
                  <c:v>18.730481556110036</c:v>
                </c:pt>
                <c:pt idx="16">
                  <c:v>19.676412061134236</c:v>
                </c:pt>
                <c:pt idx="17">
                  <c:v>20.612540973462064</c:v>
                </c:pt>
                <c:pt idx="18">
                  <c:v>21.538394551251393</c:v>
                </c:pt>
                <c:pt idx="19">
                  <c:v>22.453469229095283</c:v>
                </c:pt>
                <c:pt idx="20">
                  <c:v>23.357233212698706</c:v>
                </c:pt>
                <c:pt idx="21">
                  <c:v>24.249128175565676</c:v>
                </c:pt>
                <c:pt idx="22">
                  <c:v>25.128571068458385</c:v>
                </c:pt>
                <c:pt idx="23">
                  <c:v>25.994956044292323</c:v>
                </c:pt>
                <c:pt idx="24">
                  <c:v>26.847656509554383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8E0-49E8-9A6B-31BD79AA4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391853796053273"/>
          <c:y val="0.71082711620237826"/>
          <c:w val="0.73401477593078635"/>
          <c:h val="0.289172883797621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6-link  Outer Wheel </a:t>
            </a:r>
          </a:p>
        </c:rich>
      </c:tx>
      <c:layout>
        <c:manualLayout>
          <c:xMode val="edge"/>
          <c:yMode val="edge"/>
          <c:x val="0.1515972194318318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8643078269062521E-2"/>
          <c:y val="0.13588917525773198"/>
          <c:w val="0.87966236710683543"/>
          <c:h val="0.6319764101291192"/>
        </c:manualLayout>
      </c:layout>
      <c:scatterChart>
        <c:scatterStyle val="smoothMarker"/>
        <c:varyColors val="0"/>
        <c:ser>
          <c:idx val="0"/>
          <c:order val="0"/>
          <c:tx>
            <c:v>n=5000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Sheet1!$BD$3:$BD$27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Sheet1!$BF$3:$BF$27</c:f>
              <c:numCache>
                <c:formatCode>General</c:formatCode>
                <c:ptCount val="25"/>
                <c:pt idx="0">
                  <c:v>0.73792985380832787</c:v>
                </c:pt>
                <c:pt idx="1">
                  <c:v>1.8620769612116665</c:v>
                </c:pt>
                <c:pt idx="2">
                  <c:v>2.9768681660930314</c:v>
                </c:pt>
                <c:pt idx="3">
                  <c:v>4.082583183778536</c:v>
                </c:pt>
                <c:pt idx="4">
                  <c:v>5.1794312031585124</c:v>
                </c:pt>
                <c:pt idx="5">
                  <c:v>6.2675555774305396</c:v>
                </c:pt>
                <c:pt idx="6">
                  <c:v>7.3470378661315427</c:v>
                </c:pt>
                <c:pt idx="7">
                  <c:v>8.4179013359022132</c:v>
                </c:pt>
                <c:pt idx="8">
                  <c:v>9.4801140191142945</c:v>
                </c:pt>
                <c:pt idx="9">
                  <c:v>10.533591413887066</c:v>
                </c:pt>
                <c:pt idx="10">
                  <c:v>11.578198896749186</c:v>
                </c:pt>
                <c:pt idx="11">
                  <c:v>12.61375390893255</c:v>
                </c:pt>
                <c:pt idx="12">
                  <c:v>13.640027969334923</c:v>
                </c:pt>
                <c:pt idx="13">
                  <c:v>14.656748560235679</c:v>
                </c:pt>
                <c:pt idx="14">
                  <c:v>15.663600926273205</c:v>
                </c:pt>
                <c:pt idx="15">
                  <c:v>16.660229822389404</c:v>
                </c:pt>
                <c:pt idx="16">
                  <c:v>17.646241242358975</c:v>
                </c:pt>
                <c:pt idx="17">
                  <c:v>18.621204155399592</c:v>
                </c:pt>
                <c:pt idx="18">
                  <c:v>19.584652275836305</c:v>
                </c:pt>
                <c:pt idx="19">
                  <c:v>20.536085886721143</c:v>
                </c:pt>
                <c:pt idx="20">
                  <c:v>21.474973736106104</c:v>
                </c:pt>
                <c:pt idx="21">
                  <c:v>22.400755021353792</c:v>
                </c:pt>
                <c:pt idx="22">
                  <c:v>23.312841474134867</c:v>
                </c:pt>
                <c:pt idx="23">
                  <c:v>24.210619555813302</c:v>
                </c:pt>
                <c:pt idx="24">
                  <c:v>25.093452770741699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35E-46CE-A233-5EAB9EB4DED0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Sheet1!$U$3:$U$27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Sheet1!$W$3:$W$27</c:f>
              <c:numCache>
                <c:formatCode>General</c:formatCode>
                <c:ptCount val="25"/>
                <c:pt idx="0">
                  <c:v>0.61037832883142795</c:v>
                </c:pt>
                <c:pt idx="1">
                  <c:v>1.8200423707153943</c:v>
                </c:pt>
                <c:pt idx="2">
                  <c:v>3.0151632919373306</c:v>
                </c:pt>
                <c:pt idx="3">
                  <c:v>4.1960525281919594</c:v>
                </c:pt>
                <c:pt idx="4">
                  <c:v>5.3630368253028839</c:v>
                </c:pt>
                <c:pt idx="5">
                  <c:v>6.5164563328941432</c:v>
                </c:pt>
                <c:pt idx="6">
                  <c:v>7.6566628334107376</c:v>
                </c:pt>
                <c:pt idx="7">
                  <c:v>8.7840181051563082</c:v>
                </c:pt>
                <c:pt idx="8">
                  <c:v>9.898892416747584</c:v>
                </c:pt>
                <c:pt idx="9">
                  <c:v>11.001663149355034</c:v>
                </c:pt>
                <c:pt idx="10">
                  <c:v>12.092713542283571</c:v>
                </c:pt>
                <c:pt idx="11">
                  <c:v>13.172431556823145</c:v>
                </c:pt>
                <c:pt idx="12">
                  <c:v>14.241208852842876</c:v>
                </c:pt>
                <c:pt idx="13">
                  <c:v>15.299439872291975</c:v>
                </c:pt>
                <c:pt idx="14">
                  <c:v>16.347521023585234</c:v>
                </c:pt>
                <c:pt idx="15">
                  <c:v>17.385849960770837</c:v>
                </c:pt>
                <c:pt idx="16">
                  <c:v>18.414824951385786</c:v>
                </c:pt>
                <c:pt idx="17">
                  <c:v>19.434844326983633</c:v>
                </c:pt>
                <c:pt idx="18">
                  <c:v>20.446306010456102</c:v>
                </c:pt>
                <c:pt idx="19">
                  <c:v>21.449607114452007</c:v>
                </c:pt>
                <c:pt idx="20">
                  <c:v>22.445143605412568</c:v>
                </c:pt>
                <c:pt idx="21">
                  <c:v>23.433310027982568</c:v>
                </c:pt>
                <c:pt idx="22">
                  <c:v>24.414499284813733</c:v>
                </c:pt>
                <c:pt idx="23">
                  <c:v>25.389102467042797</c:v>
                </c:pt>
                <c:pt idx="24">
                  <c:v>26.357508730997207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35E-46CE-A233-5EAB9EB4DED0}"/>
            </c:ext>
          </c:extLst>
        </c:ser>
        <c:ser>
          <c:idx val="2"/>
          <c:order val="2"/>
          <c:tx>
            <c:v>n=50000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Sheet1!$BP$3:$BP$27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Sheet1!$BR$3:$BR$27</c:f>
              <c:numCache>
                <c:formatCode>General</c:formatCode>
                <c:ptCount val="25"/>
                <c:pt idx="0">
                  <c:v>3.2728254660183977</c:v>
                </c:pt>
                <c:pt idx="1">
                  <c:v>4.3406446920511144</c:v>
                </c:pt>
                <c:pt idx="2">
                  <c:v>5.4009956204402503</c:v>
                </c:pt>
                <c:pt idx="3">
                  <c:v>6.4540418284036996</c:v>
                </c:pt>
                <c:pt idx="4">
                  <c:v>7.4998903142523634</c:v>
                </c:pt>
                <c:pt idx="5">
                  <c:v>8.5385945584201988</c:v>
                </c:pt>
                <c:pt idx="6">
                  <c:v>9.5701571760149111</c:v>
                </c:pt>
                <c:pt idx="7">
                  <c:v>10.594532234714439</c:v>
                </c:pt>
                <c:pt idx="8">
                  <c:v>11.611627301026253</c:v>
                </c:pt>
                <c:pt idx="9">
                  <c:v>12.62130526909683</c:v>
                </c:pt>
                <c:pt idx="10">
                  <c:v>13.623386019715843</c:v>
                </c:pt>
                <c:pt idx="11">
                  <c:v>14.617647950297854</c:v>
                </c:pt>
                <c:pt idx="12">
                  <c:v>15.603829413250752</c:v>
                </c:pt>
                <c:pt idx="13">
                  <c:v>16.581630094616209</c:v>
                </c:pt>
                <c:pt idx="14">
                  <c:v>17.550712362534934</c:v>
                </c:pt>
                <c:pt idx="15">
                  <c:v>18.51070261161501</c:v>
                </c:pt>
                <c:pt idx="16">
                  <c:v>19.4611926262283</c:v>
                </c:pt>
                <c:pt idx="17">
                  <c:v>20.401740984129457</c:v>
                </c:pt>
                <c:pt idx="18">
                  <c:v>21.331874518666567</c:v>
                </c:pt>
                <c:pt idx="19">
                  <c:v>22.251089856094964</c:v>
                </c:pt>
                <c:pt idx="20">
                  <c:v>23.158855041762827</c:v>
                </c:pt>
                <c:pt idx="21">
                  <c:v>24.054611267724717</c:v>
                </c:pt>
                <c:pt idx="22">
                  <c:v>24.937774710331208</c:v>
                </c:pt>
                <c:pt idx="23">
                  <c:v>25.80773848552575</c:v>
                </c:pt>
                <c:pt idx="24">
                  <c:v>26.663874728474067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35E-46CE-A233-5EAB9EB4DED0}"/>
            </c:ext>
          </c:extLst>
        </c:ser>
        <c:ser>
          <c:idx val="3"/>
          <c:order val="3"/>
          <c:tx>
            <c:v>n=500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Sheet1!$CA$3:$CA$27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Sheet1!$CC$3:$CC$27</c:f>
              <c:numCache>
                <c:formatCode>General</c:formatCode>
                <c:ptCount val="25"/>
                <c:pt idx="0">
                  <c:v>2.0342608055524045</c:v>
                </c:pt>
                <c:pt idx="1">
                  <c:v>3.1114587620204635</c:v>
                </c:pt>
                <c:pt idx="2">
                  <c:v>4.1808853438875015</c:v>
                </c:pt>
                <c:pt idx="3">
                  <c:v>5.2427218713025772</c:v>
                </c:pt>
                <c:pt idx="4">
                  <c:v>6.2970909776317043</c:v>
                </c:pt>
                <c:pt idx="5">
                  <c:v>7.3440599083224383</c:v>
                </c:pt>
                <c:pt idx="6">
                  <c:v>8.3836433759549855</c:v>
                </c:pt>
                <c:pt idx="7">
                  <c:v>9.4158060513999526</c:v>
                </c:pt>
                <c:pt idx="8">
                  <c:v>10.440464759118758</c:v>
                </c:pt>
                <c:pt idx="9">
                  <c:v>11.457490434982804</c:v>
                </c:pt>
                <c:pt idx="10">
                  <c:v>12.466709897146083</c:v>
                </c:pt>
                <c:pt idx="11">
                  <c:v>13.467907474317634</c:v>
                </c:pt>
                <c:pt idx="12">
                  <c:v>14.46082653023926</c:v>
                </c:pt>
                <c:pt idx="13">
                  <c:v>15.445170919017864</c:v>
                </c:pt>
                <c:pt idx="14">
                  <c:v>16.420606401932979</c:v>
                </c:pt>
                <c:pt idx="15">
                  <c:v>17.386762053362599</c:v>
                </c:pt>
                <c:pt idx="16">
                  <c:v>18.343231680241193</c:v>
                </c:pt>
                <c:pt idx="17">
                  <c:v>19.28957527711999</c:v>
                </c:pt>
                <c:pt idx="18">
                  <c:v>20.22532053615522</c:v>
                </c:pt>
                <c:pt idx="19">
                  <c:v>21.149964429179185</c:v>
                </c:pt>
                <c:pt idx="20">
                  <c:v>22.062974876595586</c:v>
                </c:pt>
                <c:pt idx="21">
                  <c:v>22.963792515340486</c:v>
                </c:pt>
                <c:pt idx="22">
                  <c:v>23.851832576165734</c:v>
                </c:pt>
                <c:pt idx="23">
                  <c:v>24.726486877887311</c:v>
                </c:pt>
                <c:pt idx="24">
                  <c:v>25.58712594286742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35E-46CE-A233-5EAB9EB4DE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6892311870343615E-2"/>
          <c:y val="0.84228609764783513"/>
          <c:w val="0.87582798386638638"/>
          <c:h val="0.13308897999176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6-link Inner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969658435704465E-2"/>
          <c:y val="0.14702607676530913"/>
          <c:w val="0.83468281403201139"/>
          <c:h val="0.66984918710534758"/>
        </c:manualLayout>
      </c:layout>
      <c:scatterChart>
        <c:scatterStyle val="smoothMarker"/>
        <c:varyColors val="0"/>
        <c:ser>
          <c:idx val="0"/>
          <c:order val="0"/>
          <c:tx>
            <c:v>n=5000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Sheet1!$BD$3:$BD$27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Sheet1!$BE$3:$BE$27</c:f>
              <c:numCache>
                <c:formatCode>General</c:formatCode>
                <c:ptCount val="25"/>
                <c:pt idx="0">
                  <c:v>0.39592895760316205</c:v>
                </c:pt>
                <c:pt idx="1">
                  <c:v>1.5399377374664709</c:v>
                </c:pt>
                <c:pt idx="2">
                  <c:v>2.6946249907596744</c:v>
                </c:pt>
                <c:pt idx="3">
                  <c:v>3.8606185554910155</c:v>
                </c:pt>
                <c:pt idx="4">
                  <c:v>5.038656544751829</c:v>
                </c:pt>
                <c:pt idx="5">
                  <c:v>6.2296005095463327</c:v>
                </c:pt>
                <c:pt idx="6">
                  <c:v>7.4344513749056471</c:v>
                </c:pt>
                <c:pt idx="7">
                  <c:v>8.6543688619447519</c:v>
                </c:pt>
                <c:pt idx="8">
                  <c:v>9.8906953300412095</c:v>
                </c:pt>
                <c:pt idx="9">
                  <c:v>11.144985280919244</c:v>
                </c:pt>
                <c:pt idx="10">
                  <c:v>12.419042194622723</c:v>
                </c:pt>
                <c:pt idx="11">
                  <c:v>13.714965195919506</c:v>
                </c:pt>
                <c:pt idx="12">
                  <c:v>15.035207823453728</c:v>
                </c:pt>
                <c:pt idx="13">
                  <c:v>16.382655253814548</c:v>
                </c:pt>
                <c:pt idx="14">
                  <c:v>17.76072441372235</c:v>
                </c:pt>
                <c:pt idx="15">
                  <c:v>19.173497941094109</c:v>
                </c:pt>
                <c:pt idx="16">
                  <c:v>20.62590606635246</c:v>
                </c:pt>
                <c:pt idx="17">
                  <c:v>22.123979156647341</c:v>
                </c:pt>
                <c:pt idx="18">
                  <c:v>23.675207439989599</c:v>
                </c:pt>
                <c:pt idx="19">
                  <c:v>25.289069045125217</c:v>
                </c:pt>
                <c:pt idx="20">
                  <c:v>26.977833495219407</c:v>
                </c:pt>
                <c:pt idx="21">
                  <c:v>28.757839012855378</c:v>
                </c:pt>
                <c:pt idx="22">
                  <c:v>30.651636767721751</c:v>
                </c:pt>
                <c:pt idx="23">
                  <c:v>32.691849010450532</c:v>
                </c:pt>
                <c:pt idx="24">
                  <c:v>34.928786831097966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65E-4563-97A1-3402DFCD5B30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Sheet1!$U$3:$U$27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Sheet1!$V$3:$V$27</c:f>
              <c:numCache>
                <c:formatCode>General</c:formatCode>
                <c:ptCount val="25"/>
                <c:pt idx="0">
                  <c:v>0.61412291780035178</c:v>
                </c:pt>
                <c:pt idx="1">
                  <c:v>1.8537359270322757</c:v>
                </c:pt>
                <c:pt idx="2">
                  <c:v>3.1087134268286856</c:v>
                </c:pt>
                <c:pt idx="3">
                  <c:v>4.3792838891121564</c:v>
                </c:pt>
                <c:pt idx="4">
                  <c:v>5.6656489903717357</c:v>
                </c:pt>
                <c:pt idx="5">
                  <c:v>6.9679809713354866</c:v>
                </c:pt>
                <c:pt idx="6">
                  <c:v>8.2864199113469681</c:v>
                </c:pt>
                <c:pt idx="7">
                  <c:v>9.6210709366919005</c:v>
                </c:pt>
                <c:pt idx="8">
                  <c:v>10.972001385955325</c:v>
                </c:pt>
                <c:pt idx="9">
                  <c:v>12.339237959492401</c:v>
                </c:pt>
                <c:pt idx="10">
                  <c:v>13.722763884190458</c:v>
                </c:pt>
                <c:pt idx="11">
                  <c:v>15.122516128789798</c:v>
                </c:pt>
                <c:pt idx="12">
                  <c:v>16.538382708999261</c:v>
                </c:pt>
                <c:pt idx="13">
                  <c:v>17.970200125354566</c:v>
                </c:pt>
                <c:pt idx="14">
                  <c:v>19.417750980069727</c:v>
                </c:pt>
                <c:pt idx="15">
                  <c:v>20.880761821857039</c:v>
                </c:pt>
                <c:pt idx="16">
                  <c:v>22.358901269662265</c:v>
                </c:pt>
                <c:pt idx="17">
                  <c:v>23.851778467298715</c:v>
                </c:pt>
                <c:pt idx="18">
                  <c:v>25.358941920890324</c:v>
                </c:pt>
                <c:pt idx="19">
                  <c:v>26.87987876968846</c:v>
                </c:pt>
                <c:pt idx="20">
                  <c:v>28.414014538071125</c:v>
                </c:pt>
                <c:pt idx="21">
                  <c:v>29.960713412264134</c:v>
                </c:pt>
                <c:pt idx="22">
                  <c:v>31.519279079485003</c:v>
                </c:pt>
                <c:pt idx="23">
                  <c:v>33.088956159800311</c:v>
                </c:pt>
                <c:pt idx="24">
                  <c:v>34.66893225207167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65E-4563-97A1-3402DFCD5B30}"/>
            </c:ext>
          </c:extLst>
        </c:ser>
        <c:ser>
          <c:idx val="2"/>
          <c:order val="2"/>
          <c:tx>
            <c:v>n=50000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Sheet1!$BP$3:$BP$27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Sheet1!$BQ$3:$BQ$27</c:f>
              <c:numCache>
                <c:formatCode>General</c:formatCode>
                <c:ptCount val="25"/>
                <c:pt idx="0">
                  <c:v>-2.1973142294416341</c:v>
                </c:pt>
                <c:pt idx="1">
                  <c:v>-1.1138230453183138</c:v>
                </c:pt>
                <c:pt idx="2">
                  <c:v>-2.1994528734554587E-2</c:v>
                </c:pt>
                <c:pt idx="3">
                  <c:v>1.0786032307394857</c:v>
                </c:pt>
                <c:pt idx="4">
                  <c:v>2.1884841790302891</c:v>
                </c:pt>
                <c:pt idx="5">
                  <c:v>3.3082520821348811</c:v>
                </c:pt>
                <c:pt idx="6">
                  <c:v>4.4386103115717574</c:v>
                </c:pt>
                <c:pt idx="7">
                  <c:v>5.5803735217022448</c:v>
                </c:pt>
                <c:pt idx="8">
                  <c:v>6.7344817590278074</c:v>
                </c:pt>
                <c:pt idx="9">
                  <c:v>7.9020176128263264</c:v>
                </c:pt>
                <c:pt idx="10">
                  <c:v>9.0842272031146578</c:v>
                </c:pt>
                <c:pt idx="11">
                  <c:v>10.282546058387762</c:v>
                </c:pt>
                <c:pt idx="12">
                  <c:v>11.498631291187602</c:v>
                </c:pt>
                <c:pt idx="13">
                  <c:v>12.734402139650618</c:v>
                </c:pt>
                <c:pt idx="14">
                  <c:v>13.992090858593397</c:v>
                </c:pt>
                <c:pt idx="15">
                  <c:v>15.274309014248157</c:v>
                </c:pt>
                <c:pt idx="16">
                  <c:v>16.584132994507041</c:v>
                </c:pt>
                <c:pt idx="17">
                  <c:v>17.925217482072576</c:v>
                </c:pt>
                <c:pt idx="18">
                  <c:v>19.30194817151807</c:v>
                </c:pt>
                <c:pt idx="19">
                  <c:v>20.719651659466241</c:v>
                </c:pt>
                <c:pt idx="20">
                  <c:v>22.184890863482718</c:v>
                </c:pt>
                <c:pt idx="21">
                  <c:v>23.705892593652635</c:v>
                </c:pt>
                <c:pt idx="22">
                  <c:v>25.293187251290551</c:v>
                </c:pt>
                <c:pt idx="23">
                  <c:v>26.960604936798742</c:v>
                </c:pt>
                <c:pt idx="24">
                  <c:v>28.726904732687256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65E-4563-97A1-3402DFCD5B30}"/>
            </c:ext>
          </c:extLst>
        </c:ser>
        <c:ser>
          <c:idx val="3"/>
          <c:order val="3"/>
          <c:tx>
            <c:v>n=500</c:v>
          </c:tx>
          <c:spPr>
            <a:ln w="95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Sheet1!$CA$3:$CA$27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Sheet1!$CB$3:$CB$27</c:f>
              <c:numCache>
                <c:formatCode>General</c:formatCode>
                <c:ptCount val="25"/>
                <c:pt idx="0">
                  <c:v>-0.94904765985065842</c:v>
                </c:pt>
                <c:pt idx="1">
                  <c:v>0.14449162353348013</c:v>
                </c:pt>
                <c:pt idx="2">
                  <c:v>1.2467401082112053</c:v>
                </c:pt>
                <c:pt idx="3">
                  <c:v>2.3581595096084467</c:v>
                </c:pt>
                <c:pt idx="4">
                  <c:v>3.4792974492371749</c:v>
                </c:pt>
                <c:pt idx="5">
                  <c:v>4.6107963115354718</c:v>
                </c:pt>
                <c:pt idx="6">
                  <c:v>5.7534038191536157</c:v>
                </c:pt>
                <c:pt idx="7">
                  <c:v>6.9079857688906605</c:v>
                </c:pt>
                <c:pt idx="8">
                  <c:v>8.0755414575950528</c:v>
                </c:pt>
                <c:pt idx="9">
                  <c:v>9.2572224850746512</c:v>
                </c:pt>
                <c:pt idx="10">
                  <c:v>10.454355835673828</c:v>
                </c:pt>
                <c:pt idx="11">
                  <c:v>11.668472436192378</c:v>
                </c:pt>
                <c:pt idx="12">
                  <c:v>12.901342923169501</c:v>
                </c:pt>
                <c:pt idx="13">
                  <c:v>14.155022320207413</c:v>
                </c:pt>
                <c:pt idx="14">
                  <c:v>15.431907732909385</c:v>
                </c:pt>
                <c:pt idx="15">
                  <c:v>16.73481224998589</c:v>
                </c:pt>
                <c:pt idx="16">
                  <c:v>18.067062086363769</c:v>
                </c:pt>
                <c:pt idx="17">
                  <c:v>19.432625968505935</c:v>
                </c:pt>
                <c:pt idx="18">
                  <c:v>20.836290827441246</c:v>
                </c:pt>
                <c:pt idx="19">
                  <c:v>22.283905643112817</c:v>
                </c:pt>
                <c:pt idx="20">
                  <c:v>23.782728602631224</c:v>
                </c:pt>
                <c:pt idx="21">
                  <c:v>25.341936398548452</c:v>
                </c:pt>
                <c:pt idx="22">
                  <c:v>26.973398666785723</c:v>
                </c:pt>
                <c:pt idx="23">
                  <c:v>28.692908057249674</c:v>
                </c:pt>
                <c:pt idx="24">
                  <c:v>30.522243055039166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65E-4563-97A1-3402DFCD5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6-link  Outer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265106296119898E-2"/>
          <c:y val="0.20103459424506953"/>
          <c:w val="0.85139790067482723"/>
          <c:h val="0.46276504476707631"/>
        </c:manualLayout>
      </c:layout>
      <c:scatterChart>
        <c:scatterStyle val="smoothMarker"/>
        <c:varyColors val="0"/>
        <c:ser>
          <c:idx val="0"/>
          <c:order val="0"/>
          <c:tx>
            <c:v>n=5000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Sheet1!$BD$3:$BD$27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Sheet1!$BF$3:$BF$27</c:f>
              <c:numCache>
                <c:formatCode>General</c:formatCode>
                <c:ptCount val="25"/>
                <c:pt idx="0">
                  <c:v>0.73792985380832787</c:v>
                </c:pt>
                <c:pt idx="1">
                  <c:v>1.8620769612116665</c:v>
                </c:pt>
                <c:pt idx="2">
                  <c:v>2.9768681660930314</c:v>
                </c:pt>
                <c:pt idx="3">
                  <c:v>4.082583183778536</c:v>
                </c:pt>
                <c:pt idx="4">
                  <c:v>5.1794312031585124</c:v>
                </c:pt>
                <c:pt idx="5">
                  <c:v>6.2675555774305396</c:v>
                </c:pt>
                <c:pt idx="6">
                  <c:v>7.3470378661315427</c:v>
                </c:pt>
                <c:pt idx="7">
                  <c:v>8.4179013359022132</c:v>
                </c:pt>
                <c:pt idx="8">
                  <c:v>9.4801140191142945</c:v>
                </c:pt>
                <c:pt idx="9">
                  <c:v>10.533591413887066</c:v>
                </c:pt>
                <c:pt idx="10">
                  <c:v>11.578198896749186</c:v>
                </c:pt>
                <c:pt idx="11">
                  <c:v>12.61375390893255</c:v>
                </c:pt>
                <c:pt idx="12">
                  <c:v>13.640027969334923</c:v>
                </c:pt>
                <c:pt idx="13">
                  <c:v>14.656748560235679</c:v>
                </c:pt>
                <c:pt idx="14">
                  <c:v>15.663600926273205</c:v>
                </c:pt>
                <c:pt idx="15">
                  <c:v>16.660229822389404</c:v>
                </c:pt>
                <c:pt idx="16">
                  <c:v>17.646241242358975</c:v>
                </c:pt>
                <c:pt idx="17">
                  <c:v>18.621204155399592</c:v>
                </c:pt>
                <c:pt idx="18">
                  <c:v>19.584652275836305</c:v>
                </c:pt>
                <c:pt idx="19">
                  <c:v>20.536085886721143</c:v>
                </c:pt>
                <c:pt idx="20">
                  <c:v>21.474973736106104</c:v>
                </c:pt>
                <c:pt idx="21">
                  <c:v>22.400755021353792</c:v>
                </c:pt>
                <c:pt idx="22">
                  <c:v>23.312841474134867</c:v>
                </c:pt>
                <c:pt idx="23">
                  <c:v>24.210619555813302</c:v>
                </c:pt>
                <c:pt idx="24">
                  <c:v>25.093452770741699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79D-461D-A169-C4EF3F87C418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Sheet1!$U$3:$U$27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Sheet1!$W$3:$W$27</c:f>
              <c:numCache>
                <c:formatCode>General</c:formatCode>
                <c:ptCount val="25"/>
                <c:pt idx="0">
                  <c:v>0.61037832883142795</c:v>
                </c:pt>
                <c:pt idx="1">
                  <c:v>1.8200423707153943</c:v>
                </c:pt>
                <c:pt idx="2">
                  <c:v>3.0151632919373306</c:v>
                </c:pt>
                <c:pt idx="3">
                  <c:v>4.1960525281919594</c:v>
                </c:pt>
                <c:pt idx="4">
                  <c:v>5.3630368253028839</c:v>
                </c:pt>
                <c:pt idx="5">
                  <c:v>6.5164563328941432</c:v>
                </c:pt>
                <c:pt idx="6">
                  <c:v>7.6566628334107376</c:v>
                </c:pt>
                <c:pt idx="7">
                  <c:v>8.7840181051563082</c:v>
                </c:pt>
                <c:pt idx="8">
                  <c:v>9.898892416747584</c:v>
                </c:pt>
                <c:pt idx="9">
                  <c:v>11.001663149355034</c:v>
                </c:pt>
                <c:pt idx="10">
                  <c:v>12.092713542283571</c:v>
                </c:pt>
                <c:pt idx="11">
                  <c:v>13.172431556823145</c:v>
                </c:pt>
                <c:pt idx="12">
                  <c:v>14.241208852842876</c:v>
                </c:pt>
                <c:pt idx="13">
                  <c:v>15.299439872291975</c:v>
                </c:pt>
                <c:pt idx="14">
                  <c:v>16.347521023585234</c:v>
                </c:pt>
                <c:pt idx="15">
                  <c:v>17.385849960770837</c:v>
                </c:pt>
                <c:pt idx="16">
                  <c:v>18.414824951385786</c:v>
                </c:pt>
                <c:pt idx="17">
                  <c:v>19.434844326983633</c:v>
                </c:pt>
                <c:pt idx="18">
                  <c:v>20.446306010456102</c:v>
                </c:pt>
                <c:pt idx="19">
                  <c:v>21.449607114452007</c:v>
                </c:pt>
                <c:pt idx="20">
                  <c:v>22.445143605412568</c:v>
                </c:pt>
                <c:pt idx="21">
                  <c:v>23.433310027982568</c:v>
                </c:pt>
                <c:pt idx="22">
                  <c:v>24.414499284813733</c:v>
                </c:pt>
                <c:pt idx="23">
                  <c:v>25.389102467042797</c:v>
                </c:pt>
                <c:pt idx="24">
                  <c:v>26.357508730997207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79D-461D-A169-C4EF3F87C418}"/>
            </c:ext>
          </c:extLst>
        </c:ser>
        <c:ser>
          <c:idx val="2"/>
          <c:order val="2"/>
          <c:tx>
            <c:v>grid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Sheet1!$AO$40:$AO$64</c:f>
              <c:numCache>
                <c:formatCode>General</c:formatCode>
                <c:ptCount val="25"/>
                <c:pt idx="0">
                  <c:v>0.61224489800000004</c:v>
                </c:pt>
                <c:pt idx="1">
                  <c:v>1.836734694</c:v>
                </c:pt>
                <c:pt idx="2">
                  <c:v>3.0612244899999999</c:v>
                </c:pt>
                <c:pt idx="3">
                  <c:v>4.2857142860000002</c:v>
                </c:pt>
                <c:pt idx="4">
                  <c:v>5.5102040819999996</c:v>
                </c:pt>
                <c:pt idx="5">
                  <c:v>6.7346938779999999</c:v>
                </c:pt>
                <c:pt idx="6">
                  <c:v>7.9591836730000001</c:v>
                </c:pt>
                <c:pt idx="7">
                  <c:v>9.1836734690000004</c:v>
                </c:pt>
                <c:pt idx="8">
                  <c:v>10.408163269999999</c:v>
                </c:pt>
                <c:pt idx="9">
                  <c:v>11.632653060000001</c:v>
                </c:pt>
                <c:pt idx="10">
                  <c:v>12.85714286</c:v>
                </c:pt>
                <c:pt idx="11">
                  <c:v>14.08163265</c:v>
                </c:pt>
                <c:pt idx="12">
                  <c:v>15.30612245</c:v>
                </c:pt>
                <c:pt idx="13">
                  <c:v>16.53061224</c:v>
                </c:pt>
                <c:pt idx="14">
                  <c:v>17.755102040000001</c:v>
                </c:pt>
                <c:pt idx="15">
                  <c:v>18.979591840000001</c:v>
                </c:pt>
                <c:pt idx="16">
                  <c:v>20.204081630000001</c:v>
                </c:pt>
                <c:pt idx="17">
                  <c:v>21.428571430000002</c:v>
                </c:pt>
                <c:pt idx="18">
                  <c:v>22.653061220000001</c:v>
                </c:pt>
                <c:pt idx="19">
                  <c:v>23.877551019999999</c:v>
                </c:pt>
                <c:pt idx="20">
                  <c:v>25.102040819999999</c:v>
                </c:pt>
                <c:pt idx="21">
                  <c:v>26.326530609999999</c:v>
                </c:pt>
                <c:pt idx="22">
                  <c:v>27.55102041</c:v>
                </c:pt>
                <c:pt idx="23">
                  <c:v>28.775510199999999</c:v>
                </c:pt>
                <c:pt idx="24">
                  <c:v>30</c:v>
                </c:pt>
              </c:numCache>
            </c:numRef>
          </c:xVal>
          <c:yVal>
            <c:numRef>
              <c:f>Sheet1!$AP$40:$AP$64</c:f>
              <c:numCache>
                <c:formatCode>General</c:formatCode>
                <c:ptCount val="25"/>
                <c:pt idx="0">
                  <c:v>0.58659512899999999</c:v>
                </c:pt>
                <c:pt idx="1">
                  <c:v>1.734190176</c:v>
                </c:pt>
                <c:pt idx="2">
                  <c:v>2.8926101559999999</c:v>
                </c:pt>
                <c:pt idx="3">
                  <c:v>4.0624958969999998</c:v>
                </c:pt>
                <c:pt idx="4">
                  <c:v>5.2446004620000002</c:v>
                </c:pt>
                <c:pt idx="5">
                  <c:v>6.4398026860000002</c:v>
                </c:pt>
                <c:pt idx="6">
                  <c:v>7.6491235619999998</c:v>
                </c:pt>
                <c:pt idx="7">
                  <c:v>8.8737462469999997</c:v>
                </c:pt>
                <c:pt idx="8">
                  <c:v>10.115040629999999</c:v>
                </c:pt>
                <c:pt idx="9">
                  <c:v>11.374593770000001</c:v>
                </c:pt>
                <c:pt idx="10">
                  <c:v>12.65424797</c:v>
                </c:pt>
                <c:pt idx="11">
                  <c:v>13.95614909</c:v>
                </c:pt>
                <c:pt idx="12">
                  <c:v>15.28280734</c:v>
                </c:pt>
                <c:pt idx="13">
                  <c:v>16.63717763</c:v>
                </c:pt>
                <c:pt idx="14">
                  <c:v>18.022763609999998</c:v>
                </c:pt>
                <c:pt idx="15">
                  <c:v>19.44375746</c:v>
                </c:pt>
                <c:pt idx="16">
                  <c:v>20.905230110000002</c:v>
                </c:pt>
                <c:pt idx="17">
                  <c:v>22.41339623</c:v>
                </c:pt>
                <c:pt idx="18">
                  <c:v>23.975993150000001</c:v>
                </c:pt>
                <c:pt idx="19">
                  <c:v>25.60283948</c:v>
                </c:pt>
                <c:pt idx="20">
                  <c:v>27.306689859999999</c:v>
                </c:pt>
                <c:pt idx="21">
                  <c:v>29.104602700000001</c:v>
                </c:pt>
                <c:pt idx="22">
                  <c:v>31.020255670000001</c:v>
                </c:pt>
                <c:pt idx="23">
                  <c:v>33.088157580000001</c:v>
                </c:pt>
                <c:pt idx="24">
                  <c:v>35.362089939999997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79D-461D-A169-C4EF3F87C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6-link Inner Wheel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n=5000</c:v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Sheet1!$BD$3:$BD$27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1.8367346938775508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9.1836734693877577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</c:v>
                </c:pt>
                <c:pt idx="13">
                  <c:v>16.530612244897959</c:v>
                </c:pt>
                <c:pt idx="14">
                  <c:v>17.755102040816329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28.775510204081638</c:v>
                </c:pt>
                <c:pt idx="24">
                  <c:v>29.999999999999996</c:v>
                </c:pt>
              </c:numCache>
            </c:numRef>
          </c:xVal>
          <c:yVal>
            <c:numRef>
              <c:f>Sheet1!$BE$3:$BE$27</c:f>
              <c:numCache>
                <c:formatCode>General</c:formatCode>
                <c:ptCount val="25"/>
                <c:pt idx="0">
                  <c:v>0.39592895760316205</c:v>
                </c:pt>
                <c:pt idx="1">
                  <c:v>1.5399377374664709</c:v>
                </c:pt>
                <c:pt idx="2">
                  <c:v>2.6946249907596744</c:v>
                </c:pt>
                <c:pt idx="3">
                  <c:v>3.8606185554910155</c:v>
                </c:pt>
                <c:pt idx="4">
                  <c:v>5.038656544751829</c:v>
                </c:pt>
                <c:pt idx="5">
                  <c:v>6.2296005095463327</c:v>
                </c:pt>
                <c:pt idx="6">
                  <c:v>7.4344513749056471</c:v>
                </c:pt>
                <c:pt idx="7">
                  <c:v>8.6543688619447519</c:v>
                </c:pt>
                <c:pt idx="8">
                  <c:v>9.8906953300412095</c:v>
                </c:pt>
                <c:pt idx="9">
                  <c:v>11.144985280919244</c:v>
                </c:pt>
                <c:pt idx="10">
                  <c:v>12.419042194622723</c:v>
                </c:pt>
                <c:pt idx="11">
                  <c:v>13.714965195919506</c:v>
                </c:pt>
                <c:pt idx="12">
                  <c:v>15.035207823453728</c:v>
                </c:pt>
                <c:pt idx="13">
                  <c:v>16.382655253814548</c:v>
                </c:pt>
                <c:pt idx="14">
                  <c:v>17.76072441372235</c:v>
                </c:pt>
                <c:pt idx="15">
                  <c:v>19.173497941094109</c:v>
                </c:pt>
                <c:pt idx="16">
                  <c:v>20.62590606635246</c:v>
                </c:pt>
                <c:pt idx="17">
                  <c:v>22.123979156647341</c:v>
                </c:pt>
                <c:pt idx="18">
                  <c:v>23.675207439989599</c:v>
                </c:pt>
                <c:pt idx="19">
                  <c:v>25.289069045125217</c:v>
                </c:pt>
                <c:pt idx="20">
                  <c:v>26.977833495219407</c:v>
                </c:pt>
                <c:pt idx="21">
                  <c:v>28.757839012855378</c:v>
                </c:pt>
                <c:pt idx="22">
                  <c:v>30.651636767721751</c:v>
                </c:pt>
                <c:pt idx="23">
                  <c:v>32.691849010450532</c:v>
                </c:pt>
                <c:pt idx="24">
                  <c:v>34.928786831097966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DA2-4721-B9BA-0A2146E4AB60}"/>
            </c:ext>
          </c:extLst>
        </c:ser>
        <c:ser>
          <c:idx val="1"/>
          <c:order val="1"/>
          <c:tx>
            <c:v>Ackermann</c:v>
          </c:tx>
          <c:spPr>
            <a:ln w="95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Sheet1!$U$3:$U$27</c:f>
              <c:numCache>
                <c:formatCode>General</c:formatCode>
                <c:ptCount val="25"/>
                <c:pt idx="0">
                  <c:v>0.61224489795918369</c:v>
                </c:pt>
                <c:pt idx="1">
                  <c:v>1.8367346938775511</c:v>
                </c:pt>
                <c:pt idx="2">
                  <c:v>3.0612244897959187</c:v>
                </c:pt>
                <c:pt idx="3">
                  <c:v>4.2857142857142856</c:v>
                </c:pt>
                <c:pt idx="4">
                  <c:v>5.5102040816326534</c:v>
                </c:pt>
                <c:pt idx="5">
                  <c:v>6.7346938775510203</c:v>
                </c:pt>
                <c:pt idx="6">
                  <c:v>7.9591836734693882</c:v>
                </c:pt>
                <c:pt idx="7">
                  <c:v>9.183673469387756</c:v>
                </c:pt>
                <c:pt idx="8">
                  <c:v>10.408163265306122</c:v>
                </c:pt>
                <c:pt idx="9">
                  <c:v>11.63265306122449</c:v>
                </c:pt>
                <c:pt idx="10">
                  <c:v>12.857142857142858</c:v>
                </c:pt>
                <c:pt idx="11">
                  <c:v>14.081632653061225</c:v>
                </c:pt>
                <c:pt idx="12">
                  <c:v>15.306122448979592</c:v>
                </c:pt>
                <c:pt idx="13">
                  <c:v>16.530612244897959</c:v>
                </c:pt>
                <c:pt idx="14">
                  <c:v>17.755102040816325</c:v>
                </c:pt>
                <c:pt idx="15">
                  <c:v>18.979591836734695</c:v>
                </c:pt>
                <c:pt idx="16">
                  <c:v>20.204081632653061</c:v>
                </c:pt>
                <c:pt idx="17">
                  <c:v>21.428571428571431</c:v>
                </c:pt>
                <c:pt idx="18">
                  <c:v>22.653061224489797</c:v>
                </c:pt>
                <c:pt idx="19">
                  <c:v>23.877551020408163</c:v>
                </c:pt>
                <c:pt idx="20">
                  <c:v>25.102040816326532</c:v>
                </c:pt>
                <c:pt idx="21">
                  <c:v>26.326530612244898</c:v>
                </c:pt>
                <c:pt idx="22">
                  <c:v>27.551020408163264</c:v>
                </c:pt>
                <c:pt idx="23">
                  <c:v>28.775510204081634</c:v>
                </c:pt>
                <c:pt idx="24">
                  <c:v>30</c:v>
                </c:pt>
              </c:numCache>
            </c:numRef>
          </c:xVal>
          <c:yVal>
            <c:numRef>
              <c:f>Sheet1!$V$3:$V$27</c:f>
              <c:numCache>
                <c:formatCode>General</c:formatCode>
                <c:ptCount val="25"/>
                <c:pt idx="0">
                  <c:v>0.61412291780035178</c:v>
                </c:pt>
                <c:pt idx="1">
                  <c:v>1.8537359270322757</c:v>
                </c:pt>
                <c:pt idx="2">
                  <c:v>3.1087134268286856</c:v>
                </c:pt>
                <c:pt idx="3">
                  <c:v>4.3792838891121564</c:v>
                </c:pt>
                <c:pt idx="4">
                  <c:v>5.6656489903717357</c:v>
                </c:pt>
                <c:pt idx="5">
                  <c:v>6.9679809713354866</c:v>
                </c:pt>
                <c:pt idx="6">
                  <c:v>8.2864199113469681</c:v>
                </c:pt>
                <c:pt idx="7">
                  <c:v>9.6210709366919005</c:v>
                </c:pt>
                <c:pt idx="8">
                  <c:v>10.972001385955325</c:v>
                </c:pt>
                <c:pt idx="9">
                  <c:v>12.339237959492401</c:v>
                </c:pt>
                <c:pt idx="10">
                  <c:v>13.722763884190458</c:v>
                </c:pt>
                <c:pt idx="11">
                  <c:v>15.122516128789798</c:v>
                </c:pt>
                <c:pt idx="12">
                  <c:v>16.538382708999261</c:v>
                </c:pt>
                <c:pt idx="13">
                  <c:v>17.970200125354566</c:v>
                </c:pt>
                <c:pt idx="14">
                  <c:v>19.417750980069727</c:v>
                </c:pt>
                <c:pt idx="15">
                  <c:v>20.880761821857039</c:v>
                </c:pt>
                <c:pt idx="16">
                  <c:v>22.358901269662265</c:v>
                </c:pt>
                <c:pt idx="17">
                  <c:v>23.851778467298715</c:v>
                </c:pt>
                <c:pt idx="18">
                  <c:v>25.358941920890324</c:v>
                </c:pt>
                <c:pt idx="19">
                  <c:v>26.87987876968846</c:v>
                </c:pt>
                <c:pt idx="20">
                  <c:v>28.414014538071125</c:v>
                </c:pt>
                <c:pt idx="21">
                  <c:v>29.960713412264134</c:v>
                </c:pt>
                <c:pt idx="22">
                  <c:v>31.519279079485003</c:v>
                </c:pt>
                <c:pt idx="23">
                  <c:v>33.088956159800311</c:v>
                </c:pt>
                <c:pt idx="24">
                  <c:v>34.66893225207167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DA2-4721-B9BA-0A2146E4AB60}"/>
            </c:ext>
          </c:extLst>
        </c:ser>
        <c:ser>
          <c:idx val="2"/>
          <c:order val="2"/>
          <c:tx>
            <c:v>grid</c:v>
          </c:tx>
          <c:spPr>
            <a:ln w="95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xVal>
            <c:numRef>
              <c:f>Sheet1!$AO$40:$AO$64</c:f>
              <c:numCache>
                <c:formatCode>General</c:formatCode>
                <c:ptCount val="25"/>
                <c:pt idx="0">
                  <c:v>0.61224489800000004</c:v>
                </c:pt>
                <c:pt idx="1">
                  <c:v>1.836734694</c:v>
                </c:pt>
                <c:pt idx="2">
                  <c:v>3.0612244899999999</c:v>
                </c:pt>
                <c:pt idx="3">
                  <c:v>4.2857142860000002</c:v>
                </c:pt>
                <c:pt idx="4">
                  <c:v>5.5102040819999996</c:v>
                </c:pt>
                <c:pt idx="5">
                  <c:v>6.7346938779999999</c:v>
                </c:pt>
                <c:pt idx="6">
                  <c:v>7.9591836730000001</c:v>
                </c:pt>
                <c:pt idx="7">
                  <c:v>9.1836734690000004</c:v>
                </c:pt>
                <c:pt idx="8">
                  <c:v>10.408163269999999</c:v>
                </c:pt>
                <c:pt idx="9">
                  <c:v>11.632653060000001</c:v>
                </c:pt>
                <c:pt idx="10">
                  <c:v>12.85714286</c:v>
                </c:pt>
                <c:pt idx="11">
                  <c:v>14.08163265</c:v>
                </c:pt>
                <c:pt idx="12">
                  <c:v>15.30612245</c:v>
                </c:pt>
                <c:pt idx="13">
                  <c:v>16.53061224</c:v>
                </c:pt>
                <c:pt idx="14">
                  <c:v>17.755102040000001</c:v>
                </c:pt>
                <c:pt idx="15">
                  <c:v>18.979591840000001</c:v>
                </c:pt>
                <c:pt idx="16">
                  <c:v>20.204081630000001</c:v>
                </c:pt>
                <c:pt idx="17">
                  <c:v>21.428571430000002</c:v>
                </c:pt>
                <c:pt idx="18">
                  <c:v>22.653061220000001</c:v>
                </c:pt>
                <c:pt idx="19">
                  <c:v>23.877551019999999</c:v>
                </c:pt>
                <c:pt idx="20">
                  <c:v>25.102040819999999</c:v>
                </c:pt>
                <c:pt idx="21">
                  <c:v>26.326530609999999</c:v>
                </c:pt>
                <c:pt idx="22">
                  <c:v>27.55102041</c:v>
                </c:pt>
                <c:pt idx="23">
                  <c:v>28.775510199999999</c:v>
                </c:pt>
                <c:pt idx="24">
                  <c:v>30</c:v>
                </c:pt>
              </c:numCache>
            </c:numRef>
          </c:xVal>
          <c:yVal>
            <c:numRef>
              <c:f>Sheet1!$AP$40:$AP$64</c:f>
              <c:numCache>
                <c:formatCode>General</c:formatCode>
                <c:ptCount val="25"/>
                <c:pt idx="0">
                  <c:v>0.58659512899999999</c:v>
                </c:pt>
                <c:pt idx="1">
                  <c:v>1.734190176</c:v>
                </c:pt>
                <c:pt idx="2">
                  <c:v>2.8926101559999999</c:v>
                </c:pt>
                <c:pt idx="3">
                  <c:v>4.0624958969999998</c:v>
                </c:pt>
                <c:pt idx="4">
                  <c:v>5.2446004620000002</c:v>
                </c:pt>
                <c:pt idx="5">
                  <c:v>6.4398026860000002</c:v>
                </c:pt>
                <c:pt idx="6">
                  <c:v>7.6491235619999998</c:v>
                </c:pt>
                <c:pt idx="7">
                  <c:v>8.8737462469999997</c:v>
                </c:pt>
                <c:pt idx="8">
                  <c:v>10.115040629999999</c:v>
                </c:pt>
                <c:pt idx="9">
                  <c:v>11.374593770000001</c:v>
                </c:pt>
                <c:pt idx="10">
                  <c:v>12.65424797</c:v>
                </c:pt>
                <c:pt idx="11">
                  <c:v>13.95614909</c:v>
                </c:pt>
                <c:pt idx="12">
                  <c:v>15.28280734</c:v>
                </c:pt>
                <c:pt idx="13">
                  <c:v>16.63717763</c:v>
                </c:pt>
                <c:pt idx="14">
                  <c:v>18.022763609999998</c:v>
                </c:pt>
                <c:pt idx="15">
                  <c:v>19.44375746</c:v>
                </c:pt>
                <c:pt idx="16">
                  <c:v>20.905230110000002</c:v>
                </c:pt>
                <c:pt idx="17">
                  <c:v>22.41339623</c:v>
                </c:pt>
                <c:pt idx="18">
                  <c:v>23.975993150000001</c:v>
                </c:pt>
                <c:pt idx="19">
                  <c:v>25.60283948</c:v>
                </c:pt>
                <c:pt idx="20">
                  <c:v>27.306689859999999</c:v>
                </c:pt>
                <c:pt idx="21">
                  <c:v>29.104602700000001</c:v>
                </c:pt>
                <c:pt idx="22">
                  <c:v>31.020255670000001</c:v>
                </c:pt>
                <c:pt idx="23">
                  <c:v>33.088157580000001</c:v>
                </c:pt>
                <c:pt idx="24">
                  <c:v>35.362089939999997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DA2-4721-B9BA-0A2146E4A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5003256"/>
        <c:axId val="955003616"/>
      </c:scatterChart>
      <c:valAx>
        <c:axId val="955003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616"/>
        <c:crosses val="autoZero"/>
        <c:crossBetween val="midCat"/>
      </c:valAx>
      <c:valAx>
        <c:axId val="955003616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50032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31T13:09:1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27755 8864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60EE8C01-F33D-6AE0-98E2-4413AA191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E81EC2D-A2C7-02AF-793C-EAD0871B4E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14C844B-CC9D-4A82-8E2E-54D312D0FF73}" type="datetimeFigureOut">
              <a:rPr lang="tr-TR"/>
              <a:pPr>
                <a:defRPr/>
              </a:pPr>
              <a:t>17.06.2026</a:t>
            </a:fld>
            <a:endParaRPr lang="tr-TR"/>
          </a:p>
        </p:txBody>
      </p:sp>
      <p:sp>
        <p:nvSpPr>
          <p:cNvPr id="4" name="Slayt Görüntüsü Yer Tutucusu 3">
            <a:extLst>
              <a:ext uri="{FF2B5EF4-FFF2-40B4-BE49-F238E27FC236}">
                <a16:creationId xmlns:a16="http://schemas.microsoft.com/office/drawing/2014/main" id="{CA02FF8E-31FE-2A09-99DB-68AC1B913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 Yer Tutucusu 4">
            <a:extLst>
              <a:ext uri="{FF2B5EF4-FFF2-40B4-BE49-F238E27FC236}">
                <a16:creationId xmlns:a16="http://schemas.microsoft.com/office/drawing/2014/main" id="{23CFBB88-FEFC-A754-90E1-3E8C10BFD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noProof="0"/>
              <a:t>Asıl metin stillerini düzenle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2FA4BCE-492E-EBEF-2066-FD2F107E9E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8AE5ECF-FDD6-EB02-0EE3-7CC50C2B2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0F11065-0142-4854-B38C-5FCFCC71D79B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81775-0A1F-B769-BD59-5472D4C9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8600052B-9DE6-E6DA-E755-7B31BD0DE7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48A4D83B-B448-5237-0839-4D75E1DE20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0369CBD3-E988-2173-59AE-8218402CC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4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14071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BF9E-B2D8-7615-A889-0DC81B97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DFBE59F6-B291-31C7-664B-645516047F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61F16F7E-FE69-6164-D5A4-0E27641135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04110D59-CF7B-AAE4-2DBC-72897F583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5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970503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03F3-43D5-573A-00B6-33CB7977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DCD661B4-F011-8D0E-C0A4-8F1E822BD1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E2D77B68-9AD3-ACF0-13FF-3F1E31FC86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7E260A2D-ED9F-4D4D-3B4C-3B9A1FE50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6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9888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0B5B-4C6D-A616-D591-A50F90FE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547B031C-48E7-17A1-173E-6B6D364A8D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5601C282-698A-52FF-FF14-73B5EFF3E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943EADD5-C739-379D-3743-95FB37FBA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7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8207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74DB-0CEF-3E24-B922-C01D65A9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B9989432-FB6D-A98A-8242-AA7EEEB57C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860984A3-49C1-65C9-E532-275A18C390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6F42D429-E9B4-239E-CC3E-EF5EA0603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8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018868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A84B-6CD8-5BEC-E731-FA74E604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B172EC84-FCAC-45DF-5198-692187136B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0962FD84-1D3F-8D1C-18D6-807215FBAA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44852D9D-2CFE-8533-BEE4-E1D8D0054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9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703667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D587-CCB4-05CC-C105-A46BA6E1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4F381787-5990-18D9-09AF-B8207EDB4B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9EAB135A-3FDE-94A0-DA50-184B04A18F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39EE7B20-D551-C23D-40FC-142226029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10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766139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1F65-B41F-2D0D-59B9-E14E2D3F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147A8824-4B8A-74DC-12D1-C4214E98D2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B20621E3-AA36-CD97-B02E-181B30F6A4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091D8D1D-1075-C3DD-8642-AAB27FD75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11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73635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CFB0-D90F-E1BA-887A-F22B7A22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7F0A9A0D-1458-7E04-D3EE-31B6491D5C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625EE040-C8E1-1E78-5EBC-6862F8F8C7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2BC61783-BAEB-8E85-B9F0-E445A755F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12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678984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4F5D-B22D-CC81-F0AF-239B98DF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31FC9FAA-4B6C-7988-EA5D-B992B6D7B7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945CE0A6-74D7-AACC-9C09-DE42A4FA4A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6A701DE2-2D12-FE9C-9BFA-CF57E3A59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13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17772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AD9C-7DB4-C1B8-5DBC-ADEF2F1F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0D5EA779-BBCA-1A42-44C6-30647CB3B2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DC0C9715-7ECA-869B-992D-31B9DDAB14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6B43B7AA-355D-B214-C8B4-ABF9F6C3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14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423556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4EF5-4276-686D-4699-F763EE54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19C3322D-D62E-210E-78E8-DFA03CF285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0D96BB23-BCA5-B947-2486-73D22CB497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DCE31DB3-EC56-88C8-55E6-DA21B0912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15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92843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6100-7DCE-625E-AD89-8737B172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512C1006-33EB-B0D4-AD56-3EE2CE6495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0838A9D3-A857-6E5F-896C-525FDB654C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232D3EE2-1C0D-4AE8-34C5-11CD55393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16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14957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8715-D6D0-CDEE-F279-ECDFB8C6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A61EE4E2-E300-6283-EE20-6AA2F72ED3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2E3FAE18-EE6E-0FBF-ACEC-DC29215C94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FD1FDD2C-B120-1518-07E1-23A0D8A9D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17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94103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7F0E-DD58-F505-64E1-6343D669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8A818DC6-AE40-577C-704E-139FD8246F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9D6A0767-2953-17EA-4722-7E3F6651D5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1A1D25F7-9D64-9416-A657-8C6C1570E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18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89441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9115-A2A3-FCAD-08F3-67FB29FA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198FD3DE-28AE-292B-AD23-6442473221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1F7BF58C-71A7-A004-9E6A-AFC110EC6A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70F6DBBB-AFFD-6ECC-AB8E-1559A4B9B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19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99450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4449-9299-E95E-2835-D62C61D8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FC02A77A-48EA-260E-585E-01C56714ED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FA416780-B5CD-EBF3-B235-8F308D75D8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4CD0E76C-C862-C5E8-3C4F-99C45347B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20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492897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5FEC-5A2C-C816-E2B5-9AB13E3F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6FF26F32-C998-C21A-5E38-7B42EB828B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7C772D2A-4A02-8E54-9B00-9B22E99F55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0B9E9561-A8A3-7804-682C-634974C8E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21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915558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06F2-B310-3A01-CC0D-B9781B5E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A5B7E5FC-A2CD-C9C6-D94D-7DB094DEA7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D1231E1F-4924-286F-D593-08F944D7A8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27A085CB-642A-428E-C137-F9B093B2B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22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683001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3960-EF29-5082-68ED-26226F7A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E6C9DBBF-3BD4-9E7A-85EA-878993DA15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A04856D4-1CED-4832-CF6A-B67F81E338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4C330E76-1775-A4C8-4150-C7BC279D8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23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843251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4562-32AB-9221-1AE9-DF83C9F2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C671C9B3-0F2F-A1F7-B030-7C65C2C595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E4C66655-DB52-6943-F132-85BD56E6F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B067AD0E-C0C0-EF3A-3760-C816011D9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24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399218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9AEB-023D-521A-D17F-FA4D70BF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ayt Görüntüsü Yer Tutucusu 1">
            <a:extLst>
              <a:ext uri="{FF2B5EF4-FFF2-40B4-BE49-F238E27FC236}">
                <a16:creationId xmlns:a16="http://schemas.microsoft.com/office/drawing/2014/main" id="{DE56751D-00B9-867D-A5D3-5A40C63E20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 Yer Tutucusu 2">
            <a:extLst>
              <a:ext uri="{FF2B5EF4-FFF2-40B4-BE49-F238E27FC236}">
                <a16:creationId xmlns:a16="http://schemas.microsoft.com/office/drawing/2014/main" id="{B171252A-CD3B-ECEB-0FDD-BE664C88C3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/>
          </a:p>
        </p:txBody>
      </p:sp>
      <p:sp>
        <p:nvSpPr>
          <p:cNvPr id="7172" name="Slayt Numarası Yer Tutucusu 3">
            <a:extLst>
              <a:ext uri="{FF2B5EF4-FFF2-40B4-BE49-F238E27FC236}">
                <a16:creationId xmlns:a16="http://schemas.microsoft.com/office/drawing/2014/main" id="{C34CF826-3D56-32AA-D66B-A5BB47F99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24659F3-A9FE-474E-BD11-74F880E6A73B}" type="slidenum">
              <a:rPr lang="tr-TR" altLang="tr-TR"/>
              <a:pPr/>
              <a:t>25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2742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04BE-EF2F-5713-37FB-E9B54E7A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8192A-A71D-4044-B4FF-5EE218C65CA0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E041D-F30D-F3D8-95E4-45B1E236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1B57-0DEC-9BB5-38BA-26F5650F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9B11A-9260-43BE-86B8-6A78214C216E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55187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9E459-7A6F-BE6A-0413-43276909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7D93-7B43-4542-A80B-BED2BC51B244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80405-7DEF-C7C9-69F9-B88A72E9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7337-B93D-B432-D6F1-5ACD98C3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F40CF-1D7D-4BDA-83F9-1ACF3F35E02A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3237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90E53-DFDC-62DE-2011-DF08ECBD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A8427-6D41-4162-BC98-2F6E61E46501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3248B-E71F-DA75-FFA6-DF1C8182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8364-186B-F779-1D66-108BF611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FE84F-8EFC-4582-A9D7-F1A1AB3C3C63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2343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919DF8-A00A-9F4E-789D-DC341EAD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9BF19-61AF-407D-9DBF-5FB1F36FBC37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51F24E5-C071-B680-BCD5-0126CD96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0B1888-9D28-76F0-B1D4-B88606B1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C84AE-9CC4-4C95-BB7B-059FEBA461EC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2644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AE1CFC1-7214-00CF-E43A-3BAE8736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6D475-EEB0-4591-8834-0F6C88D1BD0F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B1E295-1AEB-36C7-C994-B4E56D69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4F59EA-9EC5-7739-AE69-B694A8DF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506BE-D370-4DBC-9325-F5BD41A25CD9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82553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C7219CC-3129-8FD5-0FC7-651EB00A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4B5A1-AA73-4E12-B500-7370388B6001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B75464-76C9-6B4A-44F3-144179151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8651E7-60B6-1835-3654-A87315BB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CE72C-C673-4544-A060-28D18C843316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1772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ABEC23D-A92B-3C3D-A680-0686DA89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6EB76-AF6F-4152-92C4-CD7A7B8A336D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15880D5-C61C-512C-2612-B4A9EC2A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CA27A4-4AC7-5D30-99A9-8B39782D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B477A-FD3B-4104-9838-8F14BCC47B91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59776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DE9C37C-6175-6579-B80E-380E1926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9B8B8-182C-4223-B12E-453FFD130878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A09C5F-FDD8-2394-46BE-FCFF392A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355697-EE96-AED6-8339-844CA07A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AC13D-9D87-4C95-A306-EC54F5EC3FD5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7404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F731EC1-C719-3E9C-24DE-69080527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E4165-935C-4DA6-AAE3-07333F96CABF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CECA14-C217-070E-13B7-81053C1D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8373C4-7F70-7227-4ACE-B9E2F1AF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A1A78-286E-4449-B5AD-923A5B16C803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6116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98843-997A-701E-A870-78C9FC9D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1914A-95A6-4C23-9E21-63C62A84C70A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53F8-30B5-DEDD-D52A-7AE3E0DB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CE0C-E12E-52BE-8AE8-C5F144A8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3700E-B9D3-4106-8B22-77099BD0F29B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9490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44B70-9E5B-241B-C815-A69FED36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789C7-1261-4A94-9EA1-66E348103C71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7536C-9837-AF10-C88B-206BBC65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B44C-ABC2-053E-9FA7-FA9CB15F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27FA5-4B83-47BE-B206-17E0D1E9CB16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6799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F024169-F4B3-4AB6-5773-6124AA4E0FB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Click to edit Master title style</a:t>
            </a:r>
            <a:endParaRPr lang="en-US" altLang="tr-T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6D9DC13-3635-695D-A191-9592DC39A7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Click to edit Master text styles</a:t>
            </a:r>
          </a:p>
          <a:p>
            <a:pPr lvl="1"/>
            <a:r>
              <a:rPr lang="tr-TR" altLang="tr-TR"/>
              <a:t>Second level</a:t>
            </a:r>
          </a:p>
          <a:p>
            <a:pPr lvl="2"/>
            <a:r>
              <a:rPr lang="tr-TR" altLang="tr-TR"/>
              <a:t>Third level</a:t>
            </a:r>
          </a:p>
          <a:p>
            <a:pPr lvl="3"/>
            <a:r>
              <a:rPr lang="tr-TR" altLang="tr-TR"/>
              <a:t>Fourth level</a:t>
            </a:r>
          </a:p>
          <a:p>
            <a:pPr lvl="4"/>
            <a:r>
              <a:rPr lang="tr-TR" altLang="tr-TR"/>
              <a:t>Fifth level</a:t>
            </a:r>
            <a:endParaRPr lang="en-US" alt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F36A8-1F97-4400-B852-4F297205E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A5190B5-00DC-4645-903A-AC50246F150F}" type="datetimeFigureOut">
              <a:rPr lang="en-US" altLang="tr-TR"/>
              <a:pPr>
                <a:defRPr/>
              </a:pPr>
              <a:t>17.06.2026</a:t>
            </a:fld>
            <a:endParaRPr lang="en-US" alt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C49E5-F9DB-9B95-9FD8-A3BCF630B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F228E-B0BB-CFDB-E6D6-B7025B191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E9D142-C21C-482F-8C1F-3DACAC70634C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22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Başlık 1">
            <a:extLst>
              <a:ext uri="{FF2B5EF4-FFF2-40B4-BE49-F238E27FC236}">
                <a16:creationId xmlns:a16="http://schemas.microsoft.com/office/drawing/2014/main" id="{ADB6234F-C621-7333-7A67-0C0041FBD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2528888"/>
            <a:ext cx="8458200" cy="1042987"/>
          </a:xfrm>
        </p:spPr>
        <p:txBody>
          <a:bodyPr/>
          <a:lstStyle/>
          <a:p>
            <a:r>
              <a:rPr lang="en-US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  <a:br>
              <a:rPr lang="en-US" altLang="en-US"/>
            </a:br>
            <a:r>
              <a:rPr lang="en-US" altLang="en-US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GRADUATION PROJECT</a:t>
            </a:r>
            <a:endParaRPr lang="tr-TR" altLang="en-US" sz="2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05E32A7-6A5D-6BAC-A8E3-C7343465F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76650"/>
            <a:ext cx="6400800" cy="3007923"/>
          </a:xfrm>
        </p:spPr>
        <p:txBody>
          <a:bodyPr/>
          <a:lstStyle/>
          <a:p>
            <a:pPr>
              <a:defRPr/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Design and Implementation of a Semi-Autonomous RC Car</a:t>
            </a:r>
          </a:p>
          <a:p>
            <a:pPr>
              <a:defRPr/>
            </a:pPr>
            <a:endParaRPr lang="en-US" sz="1800" b="1" dirty="0">
              <a:solidFill>
                <a:srgbClr val="000000"/>
              </a:solidFill>
              <a:latin typeface="Times New Roman"/>
              <a:ea typeface="MS PGothic"/>
              <a:cs typeface="Times New Roman"/>
            </a:endParaRPr>
          </a:p>
          <a:p>
            <a:pPr>
              <a:defRPr/>
            </a:pPr>
            <a:r>
              <a:rPr lang="tr-TR" sz="16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MS PGothic"/>
                <a:cs typeface="Times New Roman"/>
              </a:rPr>
              <a:t>Advisor: Asst. Prof. TOLGA ÖZASLAN</a:t>
            </a:r>
            <a:endParaRPr lang="en-US" sz="1600" b="1" dirty="0">
              <a:highlight>
                <a:srgbClr val="FFFFFF"/>
              </a:highlight>
              <a:cs typeface="Calibri"/>
            </a:endParaRPr>
          </a:p>
          <a:p>
            <a:pPr>
              <a:defRPr/>
            </a:pPr>
            <a:endParaRPr lang="en-US" sz="1600" b="1" dirty="0">
              <a:solidFill>
                <a:srgbClr val="000000"/>
              </a:solidFill>
              <a:latin typeface="Times New Roman"/>
              <a:ea typeface="MS PGothic"/>
              <a:cs typeface="Times New Roman"/>
            </a:endParaRP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MS PGothic"/>
                <a:cs typeface="Times New Roman"/>
              </a:rPr>
              <a:t>Abdelrahman Khaled Mohamed Ali Elamin Hassan</a:t>
            </a:r>
          </a:p>
          <a:p>
            <a:pPr>
              <a:defRPr/>
            </a:pPr>
            <a:r>
              <a:rPr lang="tr-TR" dirty="0">
                <a:ea typeface="MS PGothic"/>
              </a:rPr>
              <a:t>  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MS PGothic"/>
                <a:cs typeface="Times New Roman"/>
              </a:rPr>
              <a:t>Abdullahi Ayanbukola 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MS PGothic"/>
                <a:cs typeface="Times New Roman"/>
              </a:rPr>
              <a:t>Ayandiran</a:t>
            </a:r>
            <a:r>
              <a:rPr lang="tr-TR" dirty="0">
                <a:ea typeface="MS PGothic"/>
              </a:rPr>
              <a:t>   </a:t>
            </a:r>
            <a:endParaRPr lang="tr-TR" dirty="0"/>
          </a:p>
          <a:p>
            <a:pPr>
              <a:defRPr/>
            </a:pP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MS PGothic"/>
              <a:cs typeface="Times New Roman"/>
            </a:endParaRPr>
          </a:p>
          <a:p>
            <a:pPr>
              <a:defRPr/>
            </a:pPr>
            <a:endParaRPr lang="tr-TR" dirty="0">
              <a:cs typeface="Calibri"/>
            </a:endParaRPr>
          </a:p>
          <a:p>
            <a:pPr>
              <a:defRPr/>
            </a:pPr>
            <a:endParaRPr lang="tr-TR" dirty="0">
              <a:cs typeface="Calibri"/>
            </a:endParaRPr>
          </a:p>
        </p:txBody>
      </p:sp>
      <p:pic>
        <p:nvPicPr>
          <p:cNvPr id="3076" name="Resim 6" descr="metin, yazı tipi, grafik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2EC17BB5-1FE5-ABFA-5FF3-74CFFEB8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176213"/>
            <a:ext cx="46736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 descr="3.tif">
            <a:extLst>
              <a:ext uri="{FF2B5EF4-FFF2-40B4-BE49-F238E27FC236}">
                <a16:creationId xmlns:a16="http://schemas.microsoft.com/office/drawing/2014/main" id="{5E02CC32-6A3A-ABA6-BCCB-077CB4BBC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6">
            <a:extLst>
              <a:ext uri="{FF2B5EF4-FFF2-40B4-BE49-F238E27FC236}">
                <a16:creationId xmlns:a16="http://schemas.microsoft.com/office/drawing/2014/main" id="{6268066B-23DE-E67B-D3E2-2A923178A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-176213"/>
            <a:ext cx="5715000" cy="452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80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13C48BD-98F8-2B6C-9033-840F0960C489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4101" name="Başlık 1">
            <a:extLst>
              <a:ext uri="{FF2B5EF4-FFF2-40B4-BE49-F238E27FC236}">
                <a16:creationId xmlns:a16="http://schemas.microsoft.com/office/drawing/2014/main" id="{53CC0AF9-12FB-3071-7371-DB2EC0CD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/>
              <a:t>Content</a:t>
            </a:r>
          </a:p>
        </p:txBody>
      </p:sp>
      <p:sp>
        <p:nvSpPr>
          <p:cNvPr id="4102" name="İçerik Yer Tutucusu 2">
            <a:extLst>
              <a:ext uri="{FF2B5EF4-FFF2-40B4-BE49-F238E27FC236}">
                <a16:creationId xmlns:a16="http://schemas.microsoft.com/office/drawing/2014/main" id="{26570290-1E65-BAC6-D84D-17BBF6B3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7898921" cy="5402980"/>
          </a:xfrm>
        </p:spPr>
        <p:txBody>
          <a:bodyPr/>
          <a:lstStyle/>
          <a:p>
            <a:r>
              <a:rPr lang="en-US" altLang="en-US" dirty="0"/>
              <a:t>Scope &amp; Objective</a:t>
            </a:r>
          </a:p>
          <a:p>
            <a:r>
              <a:rPr lang="en-US" altLang="en-US" dirty="0"/>
              <a:t>Introduction</a:t>
            </a:r>
          </a:p>
          <a:p>
            <a:r>
              <a:rPr lang="en-US" altLang="en-US" dirty="0">
                <a:ea typeface="MS PGothic"/>
              </a:rPr>
              <a:t>Ackerman Steering Analysis &amp; Optimization</a:t>
            </a:r>
            <a:endParaRPr lang="en-US" altLang="en-US" dirty="0">
              <a:cs typeface="Calibri"/>
            </a:endParaRPr>
          </a:p>
          <a:p>
            <a:r>
              <a:rPr lang="en-US" altLang="en-US" dirty="0">
                <a:ea typeface="MS PGothic"/>
              </a:rPr>
              <a:t>Mechanical Design &amp; Manufacturing</a:t>
            </a:r>
            <a:endParaRPr lang="en-US" altLang="en-US" dirty="0">
              <a:ea typeface="MS PGothic"/>
              <a:cs typeface="Calibri"/>
            </a:endParaRPr>
          </a:p>
          <a:p>
            <a:r>
              <a:rPr lang="en-US" altLang="en-US" dirty="0">
                <a:ea typeface="MS PGothic"/>
                <a:cs typeface="Calibri"/>
              </a:rPr>
              <a:t>Electronics Design &amp; Implementation</a:t>
            </a:r>
          </a:p>
          <a:p>
            <a:r>
              <a:rPr lang="en-US" dirty="0">
                <a:ea typeface="MS PGothic"/>
                <a:cs typeface="Calibri"/>
              </a:rPr>
              <a:t>Control </a:t>
            </a:r>
            <a:r>
              <a:rPr lang="en-US" altLang="tr-TR" dirty="0">
                <a:ea typeface="MS PGothic"/>
                <a:cs typeface="Calibri"/>
              </a:rPr>
              <a:t>&amp; </a:t>
            </a:r>
            <a:r>
              <a:rPr lang="en-US" altLang="en-US" dirty="0">
                <a:ea typeface="MS PGothic"/>
                <a:cs typeface="Calibri"/>
              </a:rPr>
              <a:t>Embedded System</a:t>
            </a:r>
          </a:p>
          <a:p>
            <a:r>
              <a:rPr lang="en-US" altLang="en-US" dirty="0"/>
              <a:t>Conclusion</a:t>
            </a:r>
          </a:p>
          <a:p>
            <a:r>
              <a:rPr lang="en-US" altLang="en-US" dirty="0"/>
              <a:t>Results &amp; Discussion</a:t>
            </a:r>
          </a:p>
          <a:p>
            <a:r>
              <a:rPr lang="en-US" altLang="en-US" dirty="0"/>
              <a:t>References</a:t>
            </a:r>
          </a:p>
          <a:p>
            <a:endParaRPr lang="tr-T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3.tif">
            <a:extLst>
              <a:ext uri="{FF2B5EF4-FFF2-40B4-BE49-F238E27FC236}">
                <a16:creationId xmlns:a16="http://schemas.microsoft.com/office/drawing/2014/main" id="{0235E024-C810-AA7F-E3A5-CA97D7A9A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6">
            <a:extLst>
              <a:ext uri="{FF2B5EF4-FFF2-40B4-BE49-F238E27FC236}">
                <a16:creationId xmlns:a16="http://schemas.microsoft.com/office/drawing/2014/main" id="{431CE68B-846A-FB15-6200-C6FE7C884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957263"/>
            <a:ext cx="5715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is-IS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80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F1233EF-AD89-68C1-DCFE-7F5F413A0D16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5125" name="Başlık 1">
            <a:extLst>
              <a:ext uri="{FF2B5EF4-FFF2-40B4-BE49-F238E27FC236}">
                <a16:creationId xmlns:a16="http://schemas.microsoft.com/office/drawing/2014/main" id="{19682806-D63B-2F51-D434-74BAA356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>
                <a:ea typeface="MS PGothic"/>
              </a:rPr>
              <a:t>Scope &amp; Objective</a:t>
            </a:r>
            <a:endParaRPr lang="tr-TR" altLang="en-US" dirty="0"/>
          </a:p>
        </p:txBody>
      </p:sp>
      <p:sp>
        <p:nvSpPr>
          <p:cNvPr id="5126" name="İçerik Yer Tutucusu 2">
            <a:extLst>
              <a:ext uri="{FF2B5EF4-FFF2-40B4-BE49-F238E27FC236}">
                <a16:creationId xmlns:a16="http://schemas.microsoft.com/office/drawing/2014/main" id="{DDF41724-35D3-485E-F180-68927A1FB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33" y="1649412"/>
            <a:ext cx="8229600" cy="4783138"/>
          </a:xfrm>
        </p:spPr>
        <p:txBody>
          <a:bodyPr/>
          <a:lstStyle/>
          <a:p>
            <a:r>
              <a:rPr lang="en-US" altLang="tr-TR" sz="2500" b="1" dirty="0">
                <a:latin typeface="Arial"/>
                <a:ea typeface="MS PGothic"/>
                <a:cs typeface="Arial"/>
              </a:rPr>
              <a:t>Primary Objective: </a:t>
            </a:r>
            <a:r>
              <a:rPr lang="en-US" altLang="tr-TR" sz="2500" dirty="0">
                <a:latin typeface="Arial"/>
                <a:ea typeface="MS PGothic"/>
                <a:cs typeface="Arial"/>
              </a:rPr>
              <a:t>Design, manufacture, and implement a functional semi-autonomous RC car.</a:t>
            </a:r>
          </a:p>
          <a:p>
            <a:endParaRPr lang="en-US" altLang="tr-TR" sz="2500" dirty="0">
              <a:latin typeface="Arial" panose="020B0604020202020204" pitchFamily="34" charset="0"/>
              <a:cs typeface="Arial"/>
            </a:endParaRPr>
          </a:p>
          <a:p>
            <a:r>
              <a:rPr lang="en-US" altLang="tr-TR" sz="2500" b="1" dirty="0">
                <a:latin typeface="Arial"/>
                <a:ea typeface="MS PGothic"/>
                <a:cs typeface="Arial"/>
              </a:rPr>
              <a:t>Mechanical Scope: </a:t>
            </a:r>
            <a:r>
              <a:rPr lang="en-US" altLang="tr-TR" sz="2500" dirty="0">
                <a:latin typeface="Arial"/>
                <a:ea typeface="MS PGothic"/>
                <a:cs typeface="Arial"/>
              </a:rPr>
              <a:t>Steering Analysis,</a:t>
            </a:r>
            <a:r>
              <a:rPr lang="en-US" sz="2500" b="1" dirty="0">
                <a:ea typeface="Calibri"/>
                <a:cs typeface="Calibri"/>
              </a:rPr>
              <a:t> </a:t>
            </a:r>
            <a:r>
              <a:rPr lang="en-US" sz="2500" dirty="0">
                <a:ea typeface="Calibri"/>
                <a:cs typeface="Calibri"/>
              </a:rPr>
              <a:t>Optimization</a:t>
            </a:r>
          </a:p>
          <a:p>
            <a:endParaRPr lang="en-US" sz="2500" dirty="0">
              <a:ea typeface="Calibri"/>
              <a:cs typeface="Calibri"/>
            </a:endParaRPr>
          </a:p>
          <a:p>
            <a:r>
              <a:rPr lang="en-US" altLang="tr-TR" sz="2500" b="1" dirty="0">
                <a:latin typeface="Arial"/>
                <a:ea typeface="MS PGothic"/>
                <a:cs typeface="Arial"/>
              </a:rPr>
              <a:t>Electronics Scope: </a:t>
            </a:r>
            <a:r>
              <a:rPr lang="en-US" altLang="tr-TR" sz="2500" dirty="0">
                <a:latin typeface="Arial"/>
                <a:ea typeface="MS PGothic"/>
                <a:cs typeface="Arial"/>
              </a:rPr>
              <a:t>EMF</a:t>
            </a:r>
            <a:r>
              <a:rPr lang="en-US" sz="2500" dirty="0"/>
              <a:t>, PCB design , I2C , Filters</a:t>
            </a:r>
          </a:p>
          <a:p>
            <a:endParaRPr lang="en-US" sz="2500" dirty="0"/>
          </a:p>
          <a:p>
            <a:r>
              <a:rPr lang="en-US" altLang="tr-TR" sz="2500" b="1" dirty="0">
                <a:latin typeface="Arial"/>
                <a:ea typeface="MS PGothic"/>
                <a:cs typeface="Arial"/>
              </a:rPr>
              <a:t>Software &amp; Control Scope : </a:t>
            </a:r>
            <a:r>
              <a:rPr lang="en-US" sz="2500" dirty="0"/>
              <a:t>PID Control ,Filtering, </a:t>
            </a:r>
            <a:r>
              <a:rPr lang="en-US" sz="2500" dirty="0" err="1"/>
              <a:t>FreeRTOS</a:t>
            </a:r>
            <a:r>
              <a:rPr lang="en-US" sz="2500" dirty="0"/>
              <a:t> , dual core</a:t>
            </a:r>
          </a:p>
          <a:p>
            <a:endParaRPr lang="en-US" altLang="tr-TR" dirty="0">
              <a:latin typeface="Arial"/>
              <a:cs typeface="Arial"/>
            </a:endParaRPr>
          </a:p>
          <a:p>
            <a:endParaRPr lang="tr-TR" altLang="en-US" dirty="0"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BCE00A-483E-90D0-7D6D-7630806E82BE}"/>
                  </a:ext>
                </a:extLst>
              </p14:cNvPr>
              <p14:cNvContentPartPr/>
              <p14:nvPr/>
            </p14:nvContentPartPr>
            <p14:xfrm>
              <a:off x="12243141" y="4572000"/>
              <a:ext cx="15342" cy="15342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BCE00A-483E-90D0-7D6D-7630806E82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91383" y="3820242"/>
                <a:ext cx="1534200" cy="153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66F4-ADD0-6DFF-4598-DFF744A4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9BCC2FBC-F3BC-989F-A4E9-2ECF6D7E2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CAD6C0DF-A680-A414-7756-C60693E79056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8" name="Başlık 1">
            <a:extLst>
              <a:ext uri="{FF2B5EF4-FFF2-40B4-BE49-F238E27FC236}">
                <a16:creationId xmlns:a16="http://schemas.microsoft.com/office/drawing/2014/main" id="{46CF2307-4F8D-2339-7673-C8F7DB75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/>
              <a:t>Introduction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5797C554-C61D-A05D-69ED-703298CE5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47286-261A-07FB-7B6C-404342BDC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46" y="1275758"/>
            <a:ext cx="867070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3246-00E8-30C0-938E-74CC8EA3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C47AECE8-210B-4884-DF9C-114A8D05E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92579EDF-C80C-FF59-EFD6-1364E5BE9055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8" name="Başlık 1">
            <a:extLst>
              <a:ext uri="{FF2B5EF4-FFF2-40B4-BE49-F238E27FC236}">
                <a16:creationId xmlns:a16="http://schemas.microsoft.com/office/drawing/2014/main" id="{ABEC01D4-3348-16EF-2093-B3E6465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/>
              <a:t>Introduction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10DB386D-71DC-DDF5-31EC-954A645D5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ACC66-D6E2-FB35-A353-6F6E96C01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1010"/>
            <a:ext cx="9144000" cy="49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0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4D73-CC16-3EE5-BC03-056CB1B1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21BC275D-5201-D006-7739-74F22DCF8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68017599-3223-8D5D-7DFC-B4AE976EEC7F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02B96AD0-B570-7F0D-C2A6-90940739E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7EC341-4C81-1073-C9A0-B40F80771616}"/>
              </a:ext>
            </a:extLst>
          </p:cNvPr>
          <p:cNvSpPr txBox="1">
            <a:spLocks/>
          </p:cNvSpPr>
          <p:nvPr/>
        </p:nvSpPr>
        <p:spPr bwMode="auto">
          <a:xfrm>
            <a:off x="1107506" y="255204"/>
            <a:ext cx="8229600" cy="909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l">
              <a:spcBef>
                <a:spcPct val="20000"/>
              </a:spcBef>
            </a:pPr>
            <a:r>
              <a:rPr lang="en-US" sz="3400" dirty="0">
                <a:ea typeface="Calibri"/>
                <a:cs typeface="Calibri"/>
              </a:rPr>
              <a:t>Ackerman Steering Analysis &amp; Optimization</a:t>
            </a:r>
          </a:p>
        </p:txBody>
      </p:sp>
      <p:pic>
        <p:nvPicPr>
          <p:cNvPr id="6" name="Content Placeholder 3" descr="A diagram of a wheel with lines and angles&#10;&#10;AI-generated content may be incorrect.">
            <a:extLst>
              <a:ext uri="{FF2B5EF4-FFF2-40B4-BE49-F238E27FC236}">
                <a16:creationId xmlns:a16="http://schemas.microsoft.com/office/drawing/2014/main" id="{3FB4FD2B-99BF-6124-439B-15618FA48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3131" y="1421367"/>
            <a:ext cx="40195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F0648-2FDF-5146-577F-D3E0173BD3B3}"/>
              </a:ext>
            </a:extLst>
          </p:cNvPr>
          <p:cNvSpPr txBox="1"/>
          <p:nvPr/>
        </p:nvSpPr>
        <p:spPr>
          <a:xfrm>
            <a:off x="532445" y="3698646"/>
            <a:ext cx="42448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  <a:ea typeface="MS PGothic"/>
                <a:cs typeface="Calibri"/>
              </a:rPr>
              <a:t>Ackerman Geometry (AKA Trapezoidal Linkage); 4-bar mechanism</a:t>
            </a:r>
            <a:endParaRPr lang="en-US" b="1" dirty="0"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DA0D30-15F0-2C91-08CF-14871CCF1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306" y="1420393"/>
            <a:ext cx="3170747" cy="2277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77412D-42F0-C48A-9EDF-206EB69BD28B}"/>
              </a:ext>
            </a:extLst>
          </p:cNvPr>
          <p:cNvSpPr txBox="1"/>
          <p:nvPr/>
        </p:nvSpPr>
        <p:spPr>
          <a:xfrm rot="-10800000" flipV="1">
            <a:off x="5135487" y="3743975"/>
            <a:ext cx="3551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  <a:ea typeface="MS PGothic"/>
                <a:cs typeface="Calibri"/>
              </a:rPr>
              <a:t>Inner &amp; Outer Angle relationship.​</a:t>
            </a:r>
            <a:endParaRPr lang="en-US" b="1" dirty="0"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21551-9FDD-CFFF-1F98-26DECEA3BDC2}"/>
              </a:ext>
            </a:extLst>
          </p:cNvPr>
          <p:cNvSpPr txBox="1"/>
          <p:nvPr/>
        </p:nvSpPr>
        <p:spPr>
          <a:xfrm>
            <a:off x="355640" y="4424695"/>
            <a:ext cx="884326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MS PGothic"/>
                <a:cs typeface="Calibri"/>
              </a:rPr>
              <a:t>The Ackerman ( and Trapezoidal) Analysis limitations[1]: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MS PGothic"/>
                <a:cs typeface="Calibri"/>
              </a:rPr>
              <a:t>Ideal (Ackerman equation)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MS PGothic"/>
                <a:cs typeface="Calibri"/>
              </a:rPr>
              <a:t>Relation between just the inner &amp; outer wheel (Ackerman &amp; Trapezoidal equation)</a:t>
            </a:r>
          </a:p>
          <a:p>
            <a:r>
              <a:rPr lang="en-US" dirty="0">
                <a:latin typeface="Calibri"/>
                <a:ea typeface="MS PGothic"/>
                <a:cs typeface="Calibri"/>
              </a:rPr>
              <a:t>Leading to: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MS PGothic"/>
                <a:cs typeface="Calibri"/>
              </a:rPr>
              <a:t>Physical constraints with the servo Input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MS PGothic"/>
                <a:cs typeface="Calibri"/>
              </a:rPr>
              <a:t>Designing a custom 6-bar mechanism</a:t>
            </a:r>
          </a:p>
        </p:txBody>
      </p:sp>
    </p:spTree>
    <p:extLst>
      <p:ext uri="{BB962C8B-B14F-4D97-AF65-F5344CB8AC3E}">
        <p14:creationId xmlns:p14="http://schemas.microsoft.com/office/powerpoint/2010/main" val="381676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DCC73-13E9-4EBA-1D73-C767E9A7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FE48DC5C-3FC3-DC5B-E01C-5CBE019597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DCBC9D3E-8B9E-3BE6-87F2-E60B9CB8E9C7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2C8EB822-4A2F-4CA3-5AE7-8D532E5F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B123A0E-2FCD-29ED-8514-76A808A10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223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The Custom 6-bar Mechanism</a:t>
            </a:r>
            <a:endParaRPr lang="en-US" sz="3400" dirty="0">
              <a:cs typeface="Calibri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0422A0-D2E6-8AE9-9367-11E471268D8E}"/>
              </a:ext>
            </a:extLst>
          </p:cNvPr>
          <p:cNvSpPr txBox="1">
            <a:spLocks/>
          </p:cNvSpPr>
          <p:nvPr/>
        </p:nvSpPr>
        <p:spPr bwMode="auto">
          <a:xfrm>
            <a:off x="299049" y="1082616"/>
            <a:ext cx="8387751" cy="62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>
                <a:ea typeface="MS PGothic"/>
                <a:cs typeface="Calibri"/>
              </a:rPr>
              <a:t>Method: Vector Coordinate Equation + MATLAB SIM.</a:t>
            </a:r>
            <a:endParaRPr lang="en-US" sz="2400" dirty="0">
              <a:cs typeface="Calibri"/>
            </a:endParaRPr>
          </a:p>
        </p:txBody>
      </p:sp>
      <p:pic>
        <p:nvPicPr>
          <p:cNvPr id="14" name="0531 (1)(2)">
            <a:hlinkClick r:id="" action="ppaction://media"/>
            <a:extLst>
              <a:ext uri="{FF2B5EF4-FFF2-40B4-BE49-F238E27FC236}">
                <a16:creationId xmlns:a16="http://schemas.microsoft.com/office/drawing/2014/main" id="{4187DD91-4492-41E4-AA02-2701C8CBBF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0665" y="1577197"/>
            <a:ext cx="6998897" cy="47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6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0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7250-4EA3-1060-C552-14BB9C64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E553D4EF-C013-0E4F-1FD2-577E04573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5436D0F8-AF6C-25BF-30CA-68D177E2CB93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040F3B88-1A0C-A833-0833-78A033F55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2E0863-14E8-81E3-7CC1-5E661D51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400" dirty="0">
                <a:ea typeface="Calibri"/>
                <a:cs typeface="Calibri"/>
              </a:rPr>
              <a:t>Optimization</a:t>
            </a:r>
            <a:endParaRPr lang="en-US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3EAC00-E93B-D086-7BA3-32BECA52CABB}"/>
                  </a:ext>
                </a:extLst>
              </p:cNvPr>
              <p:cNvSpPr txBox="1"/>
              <p:nvPr/>
            </p:nvSpPr>
            <p:spPr>
              <a:xfrm>
                <a:off x="333767" y="1117538"/>
                <a:ext cx="8200633" cy="313932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1" dirty="0">
                    <a:latin typeface="Calibri"/>
                    <a:ea typeface="Calibri"/>
                    <a:cs typeface="Calibri"/>
                  </a:rPr>
                  <a:t>Objective: </a:t>
                </a:r>
                <a:r>
                  <a:rPr lang="en-US" dirty="0">
                    <a:latin typeface="Calibri"/>
                    <a:ea typeface="Calibri"/>
                    <a:cs typeface="Calibri"/>
                  </a:rPr>
                  <a:t>Minimize the difference between ideal Ackermann steering geometry and actual 4-link / 6-link steering mechanisms.</a:t>
                </a:r>
                <a:endParaRPr lang="ar-SA" dirty="0">
                  <a:latin typeface="Calibri"/>
                  <a:ea typeface="Calibri"/>
                  <a:cs typeface="Calibri"/>
                </a:endParaRPr>
              </a:p>
              <a:p>
                <a:r>
                  <a:rPr lang="en-US" b="1" dirty="0">
                    <a:latin typeface="Calibri"/>
                    <a:ea typeface="Calibri"/>
                    <a:cs typeface="Calibri"/>
                  </a:rPr>
                  <a:t>DOE Method: </a:t>
                </a:r>
                <a:r>
                  <a:rPr lang="en-US" dirty="0">
                    <a:latin typeface="Calibri"/>
                    <a:ea typeface="Calibri"/>
                    <a:cs typeface="Calibri"/>
                  </a:rPr>
                  <a:t>Applied Full Factorial Design (</a:t>
                </a:r>
                <a:r>
                  <a:rPr lang="en-US" dirty="0"/>
                  <a:t>Grid Search</a:t>
                </a:r>
                <a:r>
                  <a:rPr lang="en-US" dirty="0">
                    <a:latin typeface="Calibri"/>
                    <a:ea typeface="Calibri"/>
                    <a:cs typeface="Calibri"/>
                  </a:rPr>
                  <a:t>) to test all variable combinations due to high system sensitivity.</a:t>
                </a:r>
                <a:endParaRPr lang="ar-SA" dirty="0">
                  <a:latin typeface="Calibri"/>
                  <a:ea typeface="Calibri"/>
                  <a:cs typeface="Calibri"/>
                </a:endParaRPr>
              </a:p>
              <a:p>
                <a:r>
                  <a:rPr lang="en-US" b="1" dirty="0"/>
                  <a:t>Objective Function:</a:t>
                </a:r>
                <a:r>
                  <a:rPr lang="en-US" dirty="0"/>
                  <a:t> Used </a:t>
                </a:r>
                <a:r>
                  <a:rPr lang="en-US" b="1" dirty="0"/>
                  <a:t>RMSE</a:t>
                </a:r>
                <a:r>
                  <a:rPr lang="en-US" dirty="0"/>
                  <a:t> to measure error between actual and ideal inner/outer wheel angles, giving higher penalty to larger errors.</a:t>
                </a:r>
              </a:p>
              <a:p>
                <a:r>
                  <a:rPr lang="en-US" b="1" dirty="0"/>
                  <a:t>Optimization Variables: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and d </a:t>
                </a:r>
                <a:endParaRPr lang="ar-SA" b="1" dirty="0"/>
              </a:p>
              <a:p>
                <a:r>
                  <a:rPr lang="en-US" b="1" dirty="0"/>
                  <a:t>Search Range: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10°–  30° and d = 2–30 mm</a:t>
                </a:r>
                <a:endParaRPr lang="ar-SA" dirty="0"/>
              </a:p>
              <a:p>
                <a:r>
                  <a:rPr lang="en-US" b="1" dirty="0"/>
                  <a:t>Constraints :</a:t>
                </a:r>
                <a:r>
                  <a:rPr lang="en-US" dirty="0"/>
                  <a:t>Large d causes chassis interference and slower steering response</a:t>
                </a:r>
                <a:endParaRPr lang="ar-SA" dirty="0"/>
              </a:p>
              <a:p>
                <a:r>
                  <a:rPr lang="en-US" dirty="0"/>
                  <a:t>.β &gt; 30° leads to kinematic </a:t>
                </a:r>
                <a:r>
                  <a:rPr lang="en-US" b="1" dirty="0"/>
                  <a:t>singularity, </a:t>
                </a:r>
                <a:r>
                  <a:rPr lang="en-US" dirty="0"/>
                  <a:t>causing loss of controllability</a:t>
                </a:r>
                <a:r>
                  <a:rPr lang="en-US" b="1" dirty="0"/>
                  <a:t>. </a:t>
                </a:r>
                <a:endParaRPr lang="ar-SA" b="1" dirty="0"/>
              </a:p>
              <a:p>
                <a:endParaRPr lang="en-US" b="1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3EAC00-E93B-D086-7BA3-32BECA52C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67" y="1117538"/>
                <a:ext cx="8200633" cy="3139321"/>
              </a:xfrm>
              <a:prstGeom prst="rect">
                <a:avLst/>
              </a:prstGeom>
              <a:blipFill>
                <a:blip r:embed="rId4"/>
                <a:stretch>
                  <a:fillRect l="-669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3" descr="A diagram of a wheel with lines and angles&#10;&#10;AI-generated content may be incorrect.">
            <a:extLst>
              <a:ext uri="{FF2B5EF4-FFF2-40B4-BE49-F238E27FC236}">
                <a16:creationId xmlns:a16="http://schemas.microsoft.com/office/drawing/2014/main" id="{CD799512-6F5E-9D42-A45A-ADED4F00E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562225" y="3979860"/>
            <a:ext cx="40195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090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42AB-6244-6C4B-8A47-18D63D78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3171442E-A3D4-4813-3EE6-92BE13F0C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3CC4D69D-FED5-7BF2-7F7A-AFA046E9B607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55E78679-E7EE-81BC-BC30-FA4FA1C96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3FA83D-DF0B-EFFB-0095-CE106F71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59" y="853989"/>
            <a:ext cx="8229600" cy="1143000"/>
          </a:xfrm>
        </p:spPr>
        <p:txBody>
          <a:bodyPr/>
          <a:lstStyle/>
          <a:p>
            <a:r>
              <a:rPr lang="en-US" sz="3400" dirty="0">
                <a:ea typeface="Calibri"/>
                <a:cs typeface="Calibri"/>
              </a:rPr>
              <a:t>Result of 6-link &amp; 4-link surface Optimization</a:t>
            </a:r>
            <a:endParaRPr lang="en-US" sz="3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23710-4038-90A7-33EE-C1CB36EA00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91626"/>
            <a:ext cx="4155659" cy="25436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55EE3C-DBDE-4630-DB06-C31787A13D32}"/>
                  </a:ext>
                </a:extLst>
              </p:cNvPr>
              <p:cNvSpPr txBox="1"/>
              <p:nvPr/>
            </p:nvSpPr>
            <p:spPr>
              <a:xfrm>
                <a:off x="2071396" y="5404738"/>
                <a:ext cx="4910515" cy="543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𝐸𝑆𝑀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𝐴𝑐𝑘𝑒𝑟𝑚𝑎𝑛𝑛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[2]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55EE3C-DBDE-4630-DB06-C31787A13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396" y="5404738"/>
                <a:ext cx="4910515" cy="543547"/>
              </a:xfrm>
              <a:prstGeom prst="rect">
                <a:avLst/>
              </a:prstGeom>
              <a:blipFill>
                <a:blip r:embed="rId5"/>
                <a:stretch>
                  <a:fillRect b="-8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781919-A079-678C-8838-E3AE7552B9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256" y="2491626"/>
            <a:ext cx="4231265" cy="2578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483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47C2-0A15-02EA-B26C-F34BBE00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4F679942-814A-7BAE-243D-81AD9A98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1B783350-2466-EA79-11AE-FA970369AE0C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EC1EB4CA-C04B-332A-43B1-86D64251C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53D7C12-FDE3-24EB-E702-7091728D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645659"/>
            <a:ext cx="884542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Optimized Linkage Comparison</a:t>
            </a:r>
            <a:r>
              <a:rPr lang="en-US" sz="3400" dirty="0">
                <a:ea typeface="Calibri"/>
                <a:cs typeface="Calibri"/>
              </a:rPr>
              <a:t> of 6-link &amp; 4-link </a:t>
            </a:r>
            <a:endParaRPr lang="en-US" sz="3400" dirty="0">
              <a:cs typeface="Calibr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4254023-5DC3-1DC5-A3E1-F5B8C5FD4741}"/>
              </a:ext>
            </a:extLst>
          </p:cNvPr>
          <p:cNvGraphicFramePr/>
          <p:nvPr/>
        </p:nvGraphicFramePr>
        <p:xfrm>
          <a:off x="457201" y="1689375"/>
          <a:ext cx="4114799" cy="347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D5A50C5-4DDE-ACA1-0457-C93C701632CF}"/>
              </a:ext>
            </a:extLst>
          </p:cNvPr>
          <p:cNvGraphicFramePr/>
          <p:nvPr/>
        </p:nvGraphicFramePr>
        <p:xfrm>
          <a:off x="4674637" y="1689375"/>
          <a:ext cx="4012163" cy="347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BD2CC2-7812-3209-E6A8-53B6F0622080}"/>
              </a:ext>
            </a:extLst>
          </p:cNvPr>
          <p:cNvSpPr txBox="1"/>
          <p:nvPr/>
        </p:nvSpPr>
        <p:spPr>
          <a:xfrm>
            <a:off x="681135" y="5168625"/>
            <a:ext cx="800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4-link system: </a:t>
            </a:r>
            <a:r>
              <a:rPr lang="en-US" dirty="0"/>
              <a:t>showed divergence from ideal Ackermann behavior</a:t>
            </a:r>
            <a:r>
              <a:rPr lang="en-US" b="1" dirty="0"/>
              <a:t>.</a:t>
            </a:r>
          </a:p>
          <a:p>
            <a:r>
              <a:rPr lang="en-US" b="1" dirty="0"/>
              <a:t>6-link system: </a:t>
            </a:r>
            <a:r>
              <a:rPr lang="en-US" dirty="0"/>
              <a:t>showed better convergence to ideal steering geometry.</a:t>
            </a:r>
          </a:p>
        </p:txBody>
      </p:sp>
    </p:spTree>
    <p:extLst>
      <p:ext uri="{BB962C8B-B14F-4D97-AF65-F5344CB8AC3E}">
        <p14:creationId xmlns:p14="http://schemas.microsoft.com/office/powerpoint/2010/main" val="349655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15C0-F7D2-292F-50D3-280A921B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A4C5D132-2BEB-DD26-5E7F-A60EAFFB7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5895E96A-5EC0-6312-047C-B42CABBF55ED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A38626F3-BDBC-A698-B918-0B553754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C6D040-E082-C5C0-F642-7E397C15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38" y="274638"/>
            <a:ext cx="7783902" cy="1157377"/>
          </a:xfrm>
        </p:spPr>
        <p:txBody>
          <a:bodyPr/>
          <a:lstStyle/>
          <a:p>
            <a:r>
              <a:rPr lang="en-US" sz="3400" dirty="0"/>
              <a:t>Grid size </a:t>
            </a:r>
            <a:r>
              <a:rPr lang="ar-SA" sz="3400" dirty="0"/>
              <a:t>&amp;</a:t>
            </a:r>
            <a:r>
              <a:rPr lang="en-US" sz="3400" dirty="0"/>
              <a:t>optimization performance</a:t>
            </a:r>
            <a:endParaRPr lang="en-US" sz="3400" b="1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D4500-9975-570E-3A5B-4A33C4F59E09}"/>
              </a:ext>
            </a:extLst>
          </p:cNvPr>
          <p:cNvSpPr txBox="1"/>
          <p:nvPr/>
        </p:nvSpPr>
        <p:spPr>
          <a:xfrm>
            <a:off x="66290" y="1510557"/>
            <a:ext cx="847063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Grid size was adjusted</a:t>
            </a:r>
            <a:r>
              <a:rPr lang="en-US" sz="2000" dirty="0"/>
              <a:t> to improve optimization accuracy and observe solution behavior</a:t>
            </a:r>
            <a:r>
              <a:rPr lang="ar-SA" sz="2000" dirty="0"/>
              <a:t>.</a:t>
            </a:r>
            <a:r>
              <a:rPr lang="en-US" sz="2000" dirty="0"/>
              <a:t> Choosing the step size involves a trade-off with round-off error</a:t>
            </a:r>
            <a:endParaRPr lang="ar-SA" sz="2000" dirty="0"/>
          </a:p>
          <a:p>
            <a:endParaRPr lang="en-US" sz="2000" b="1" dirty="0">
              <a:cs typeface="Calibri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5FC495B-95A8-168D-8B5B-6F77A7B4A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333231"/>
              </p:ext>
            </p:extLst>
          </p:nvPr>
        </p:nvGraphicFramePr>
        <p:xfrm>
          <a:off x="261745" y="2275554"/>
          <a:ext cx="4236098" cy="352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1AFAF94-B2A0-6E5F-CC1F-F6734E44AD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565806"/>
              </p:ext>
            </p:extLst>
          </p:nvPr>
        </p:nvGraphicFramePr>
        <p:xfrm>
          <a:off x="4693298" y="2248678"/>
          <a:ext cx="4114800" cy="3529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70006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E6CE-7EB0-586E-A784-9C3E1FF6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48275F41-AE78-62F1-A96C-E6179F962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01A76D74-6EC3-0215-ADCC-7B2FDBE3396A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871DFEB8-5BC5-9A34-3A97-D957300EB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pic>
        <p:nvPicPr>
          <p:cNvPr id="3" name="Content Placeholder 10">
            <a:extLst>
              <a:ext uri="{FF2B5EF4-FFF2-40B4-BE49-F238E27FC236}">
                <a16:creationId xmlns:a16="http://schemas.microsoft.com/office/drawing/2014/main" id="{97FB5A3D-EE46-22B4-000E-F0D90CBA8A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34" b="15738"/>
          <a:stretch>
            <a:fillRect/>
          </a:stretch>
        </p:blipFill>
        <p:spPr bwMode="auto">
          <a:xfrm>
            <a:off x="158355" y="1324947"/>
            <a:ext cx="8827290" cy="442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533A27-32FE-C081-31F6-D269C27B342E}"/>
              </a:ext>
            </a:extLst>
          </p:cNvPr>
          <p:cNvSpPr txBox="1"/>
          <p:nvPr/>
        </p:nvSpPr>
        <p:spPr>
          <a:xfrm>
            <a:off x="1095143" y="5665348"/>
            <a:ext cx="6892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allows checking if better solutions exist outside the fixed grid points and improves robustness of the optimization.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03AF9-E9C5-22E7-D7C8-739FAEEF00BD}"/>
              </a:ext>
            </a:extLst>
          </p:cNvPr>
          <p:cNvSpPr txBox="1"/>
          <p:nvPr/>
        </p:nvSpPr>
        <p:spPr>
          <a:xfrm>
            <a:off x="1095143" y="401617"/>
            <a:ext cx="66643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 Search : was selected to introduce variability in the results.</a:t>
            </a:r>
            <a:r>
              <a:rPr lang="en-US" dirty="0"/>
              <a:t> </a:t>
            </a:r>
          </a:p>
          <a:p>
            <a:r>
              <a:rPr lang="en-US" dirty="0"/>
              <a:t>It helps explore a wider solution space compared to structured methods like Grid Search. [3]</a:t>
            </a:r>
          </a:p>
        </p:txBody>
      </p:sp>
    </p:spTree>
    <p:extLst>
      <p:ext uri="{BB962C8B-B14F-4D97-AF65-F5344CB8AC3E}">
        <p14:creationId xmlns:p14="http://schemas.microsoft.com/office/powerpoint/2010/main" val="223433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267F-E60A-C6F1-69DA-EF25EC92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13DFC6A5-B6A4-9BAA-9F8F-BF986A4D0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404AE582-DE61-50FC-417A-E5BCAD47F67E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1974BAEC-650D-B932-F877-9B4063694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91ECA-21AA-7DC4-A628-A38125D4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59" y="114680"/>
            <a:ext cx="8229600" cy="1143000"/>
          </a:xfrm>
        </p:spPr>
        <p:txBody>
          <a:bodyPr/>
          <a:lstStyle/>
          <a:p>
            <a:r>
              <a:rPr lang="en-US" sz="3400" dirty="0"/>
              <a:t>Random Search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4985C-AA5D-A408-32A7-A14E00BCAA6A}"/>
              </a:ext>
            </a:extLst>
          </p:cNvPr>
          <p:cNvSpPr txBox="1"/>
          <p:nvPr/>
        </p:nvSpPr>
        <p:spPr>
          <a:xfrm>
            <a:off x="580830" y="1264524"/>
            <a:ext cx="79286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Like Grid Search, </a:t>
            </a:r>
            <a:r>
              <a:rPr lang="en-US" sz="1800" b="1" dirty="0"/>
              <a:t>Random Search requires a predefined number of iterations</a:t>
            </a:r>
          </a:p>
          <a:p>
            <a:r>
              <a:rPr lang="en-US" dirty="0"/>
              <a:t>A parametric study was performed using different iteration numbers: N = 500, 5000, 50000.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97A1530-6BE8-98A3-D453-B679A947E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016980"/>
              </p:ext>
            </p:extLst>
          </p:nvPr>
        </p:nvGraphicFramePr>
        <p:xfrm>
          <a:off x="290415" y="2315722"/>
          <a:ext cx="3991169" cy="3290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2ABB22-6DB2-0456-8EB8-C96651B8A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008302"/>
              </p:ext>
            </p:extLst>
          </p:nvPr>
        </p:nvGraphicFramePr>
        <p:xfrm>
          <a:off x="4571999" y="2315721"/>
          <a:ext cx="4155659" cy="3290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91488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B05A-4426-8B04-6807-B7053296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EC1959AE-FD41-FE5F-348A-C4DD40B8A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D7B0C7EB-9DE0-E164-0824-C4A2532449CB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0728CC19-D8F2-B3D5-8812-E432800C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>
              <a:cs typeface="Calibri"/>
            </a:endParaRPr>
          </a:p>
          <a:p>
            <a:pPr algn="just"/>
            <a:endParaRPr lang="en-US" altLang="en-US">
              <a:cs typeface="Calibri"/>
            </a:endParaRPr>
          </a:p>
          <a:p>
            <a:pPr algn="just"/>
            <a:endParaRPr lang="tr-TR" altLang="en-US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A8261-AE2B-B65D-E6D7-149E1C53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79" y="117792"/>
            <a:ext cx="7783902" cy="1157377"/>
          </a:xfrm>
        </p:spPr>
        <p:txBody>
          <a:bodyPr/>
          <a:lstStyle/>
          <a:p>
            <a:r>
              <a:rPr lang="en-US" sz="3400" dirty="0"/>
              <a:t>Comparative Random</a:t>
            </a:r>
            <a:r>
              <a:rPr lang="en-US" sz="3400" dirty="0">
                <a:ea typeface="MS PGothic"/>
                <a:cs typeface="Calibri"/>
              </a:rPr>
              <a:t> Search &amp; Grid Search Optimization</a:t>
            </a:r>
            <a:endParaRPr lang="en-US" sz="3400" dirty="0">
              <a:ea typeface="Calibri"/>
              <a:cs typeface="Calibri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9C51B4-AB95-9159-AAC1-14E105F6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27" y="1222810"/>
            <a:ext cx="3463254" cy="2206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012E80-D3AC-5D2B-79FA-D8D6313EB4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83828"/>
            <a:ext cx="3796681" cy="23238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ECF1C34-05D4-492B-94FB-6733FBE763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078346"/>
              </p:ext>
            </p:extLst>
          </p:nvPr>
        </p:nvGraphicFramePr>
        <p:xfrm>
          <a:off x="306449" y="3779659"/>
          <a:ext cx="3920453" cy="244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0FEECC0-6BF8-4D20-B00C-A3F8F7CB0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917966"/>
              </p:ext>
            </p:extLst>
          </p:nvPr>
        </p:nvGraphicFramePr>
        <p:xfrm>
          <a:off x="4455502" y="3779659"/>
          <a:ext cx="4231297" cy="244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320673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F148-D1C3-1E08-42C6-F017CB12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9EC98AFA-4C3F-7CF9-CBEF-AAE015677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0AFB933F-4C2A-1597-4D8C-61D2800C2E66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560138D7-479A-EB84-8E21-B3B5DA5EB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B3921-24E3-6C1F-15F9-D009B17C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2200" kern="1200" dirty="0">
                <a:latin typeface="+mj-lt"/>
                <a:ea typeface="+mj-ea"/>
                <a:cs typeface="+mj-cs"/>
              </a:rPr>
              <a:t>Mechanical Design &amp; Manufacturing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DA354D56-E80D-3A38-FC33-321EB0628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786339" y="-3515"/>
            <a:ext cx="3829009" cy="506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25F437-D02D-9208-BF21-BF606AD15151}"/>
              </a:ext>
            </a:extLst>
          </p:cNvPr>
          <p:cNvSpPr txBox="1"/>
          <p:nvPr/>
        </p:nvSpPr>
        <p:spPr>
          <a:xfrm>
            <a:off x="4782642" y="5058610"/>
            <a:ext cx="434504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>
                <a:latin typeface="Calibri"/>
                <a:ea typeface="MS PGothic"/>
                <a:cs typeface="Calibri"/>
              </a:rPr>
              <a:t>Staggered</a:t>
            </a:r>
            <a:r>
              <a:rPr lang="en-US" sz="2000" b="1" dirty="0">
                <a:latin typeface="Calibri"/>
                <a:ea typeface="MS PGothic"/>
                <a:cs typeface="Calibri"/>
              </a:rPr>
              <a:t> Car Track</a:t>
            </a: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Calibri"/>
                <a:ea typeface="MS PGothic"/>
                <a:cs typeface="Calibri"/>
              </a:rPr>
              <a:t>Rear </a:t>
            </a:r>
            <a:r>
              <a:rPr lang="en-US" sz="2000" b="1">
                <a:latin typeface="Calibri"/>
                <a:ea typeface="MS PGothic"/>
                <a:cs typeface="Calibri"/>
              </a:rPr>
              <a:t>Wheel Drive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Calibri"/>
                <a:ea typeface="MS PGothic"/>
                <a:cs typeface="Calibri"/>
              </a:rPr>
              <a:t>Front Steering System</a:t>
            </a: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Calibri"/>
                <a:ea typeface="MS PGothic"/>
                <a:cs typeface="Calibri"/>
              </a:rPr>
              <a:t>All design were done in </a:t>
            </a:r>
            <a:r>
              <a:rPr lang="en-US" sz="2000" b="1">
                <a:latin typeface="Calibri"/>
                <a:ea typeface="MS PGothic"/>
                <a:cs typeface="Calibri"/>
              </a:rPr>
              <a:t>SolidWorks</a:t>
            </a:r>
            <a:endParaRPr lang="en-US" sz="2000" b="1" dirty="0" err="1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82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EFA2-5697-3291-0684-4DDAFD961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31F017E1-5243-EB6B-35BA-3037CCB02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D56FCD78-5F35-F7ED-E71C-9B296D6C9646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8333AD47-7BC7-6EF5-E5F6-CE292B67A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AC770D-C93E-17A2-3B1C-BB69CF46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9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Manufacturing The Car</a:t>
            </a:r>
            <a:endParaRPr lang="en-US" sz="3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9DBD0E-D4E9-A74E-D464-3B4F2CE32A78}"/>
              </a:ext>
            </a:extLst>
          </p:cNvPr>
          <p:cNvSpPr txBox="1">
            <a:spLocks/>
          </p:cNvSpPr>
          <p:nvPr/>
        </p:nvSpPr>
        <p:spPr bwMode="auto">
          <a:xfrm>
            <a:off x="1938068" y="924465"/>
            <a:ext cx="5267865" cy="11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MS PGothic"/>
                <a:cs typeface="Calibri"/>
              </a:rPr>
              <a:t>The chasses were cut out from HDP plastics</a:t>
            </a:r>
          </a:p>
          <a:p>
            <a:r>
              <a:rPr lang="en-US" sz="2000">
                <a:ea typeface="MS PGothic"/>
                <a:cs typeface="Calibri"/>
              </a:rPr>
              <a:t>All other parts were 3D printed</a:t>
            </a:r>
          </a:p>
          <a:p>
            <a:r>
              <a:rPr lang="en-US" sz="2000">
                <a:ea typeface="MS PGothic"/>
                <a:cs typeface="Calibri"/>
              </a:rPr>
              <a:t>Manual assembly.</a:t>
            </a:r>
            <a:endParaRPr lang="en-US" sz="2000" dirty="0">
              <a:ea typeface="MS PGothic"/>
              <a:cs typeface="Calibri"/>
            </a:endParaRPr>
          </a:p>
        </p:txBody>
      </p:sp>
      <p:pic>
        <p:nvPicPr>
          <p:cNvPr id="8" name="0531(1)">
            <a:hlinkClick r:id="" action="ppaction://media"/>
            <a:extLst>
              <a:ext uri="{FF2B5EF4-FFF2-40B4-BE49-F238E27FC236}">
                <a16:creationId xmlns:a16="http://schemas.microsoft.com/office/drawing/2014/main" id="{874909DE-A482-C29F-51B4-C5B1CF31701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219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8137" y="2076091"/>
            <a:ext cx="7502105" cy="417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9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7DF2-5FFE-492B-BE54-4E3E9EDF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44B9C138-CB7A-7DD6-17A5-30A900243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88920C2D-AAB9-5ABA-C629-5F3DE5946594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6C30E786-1F38-0883-B233-625305064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9859A-2C08-16DE-617C-6519F573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936" y="289015"/>
            <a:ext cx="8013940" cy="1143000"/>
          </a:xfrm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400" dirty="0">
                <a:ea typeface="Calibri"/>
                <a:cs typeface="Calibri"/>
              </a:rPr>
              <a:t>Electronics Design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127F-AC9E-7F79-0948-DBF45F365FFC}"/>
              </a:ext>
            </a:extLst>
          </p:cNvPr>
          <p:cNvSpPr txBox="1">
            <a:spLocks/>
          </p:cNvSpPr>
          <p:nvPr/>
        </p:nvSpPr>
        <p:spPr bwMode="auto">
          <a:xfrm>
            <a:off x="102637" y="1180920"/>
            <a:ext cx="3485071" cy="543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ea typeface="MS PGothic"/>
                <a:cs typeface="Calibri"/>
              </a:rPr>
              <a:t>Electronics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685CF-F1FD-03EF-904E-8BFBB3C4E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99" y="1849359"/>
            <a:ext cx="7563324" cy="415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06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88EE-D494-A0D1-ED12-DE44DE6F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4A8588BC-5C16-E345-29FF-7A1F47CA8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B0F0FF4D-F007-C5A9-04A5-E157764D9502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F914E6AE-AA0A-F248-D3E8-5AACCB1FD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8657058A-6C80-0CF7-81BD-C0B1E070EA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005"/>
          <a:stretch>
            <a:fillRect/>
          </a:stretch>
        </p:blipFill>
        <p:spPr bwMode="auto">
          <a:xfrm>
            <a:off x="305651" y="1888819"/>
            <a:ext cx="8532697" cy="420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15A7A2-2E7E-C5AF-D70C-3AC312B67F76}"/>
              </a:ext>
            </a:extLst>
          </p:cNvPr>
          <p:cNvSpPr txBox="1"/>
          <p:nvPr/>
        </p:nvSpPr>
        <p:spPr>
          <a:xfrm>
            <a:off x="2393302" y="327816"/>
            <a:ext cx="479126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prstClr val="black"/>
                </a:solidFill>
                <a:latin typeface="+mj-lt"/>
                <a:cs typeface="+mj-cs"/>
              </a:rPr>
              <a:t>electromagnetic force</a:t>
            </a:r>
            <a:endParaRPr lang="en-US" sz="3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564FB-F41B-8040-F337-DC3C01252555}"/>
              </a:ext>
            </a:extLst>
          </p:cNvPr>
          <p:cNvSpPr txBox="1"/>
          <p:nvPr/>
        </p:nvSpPr>
        <p:spPr>
          <a:xfrm>
            <a:off x="151548" y="1142476"/>
            <a:ext cx="8992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is the voltage that a motor generates as it spins, acting like a generator. It opposes the input voltage, which naturally limits the current.</a:t>
            </a:r>
          </a:p>
        </p:txBody>
      </p:sp>
    </p:spTree>
    <p:extLst>
      <p:ext uri="{BB962C8B-B14F-4D97-AF65-F5344CB8AC3E}">
        <p14:creationId xmlns:p14="http://schemas.microsoft.com/office/powerpoint/2010/main" val="293868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34FC-0117-D69A-519C-AC11F22AB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E28A031F-5A74-06C5-69F0-D928BDF71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DC53ECA3-16E2-8DC7-C8D1-2ED5076A99D0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3D0A7B95-5D3A-7B39-D7AA-3D2EC12A3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E5DC2-C50D-B2F0-8F12-86C06BF1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eaLnBrk="1" hangingPunct="1">
              <a:lnSpc>
                <a:spcPct val="90000"/>
              </a:lnSpc>
            </a:pPr>
            <a:r>
              <a:rPr lang="en-US" sz="3400" dirty="0"/>
              <a:t>I2C</a:t>
            </a:r>
            <a:r>
              <a:rPr lang="en-US" sz="3400" b="1" dirty="0"/>
              <a:t> </a:t>
            </a:r>
            <a:r>
              <a:rPr lang="en-US" sz="3400" dirty="0"/>
              <a:t>Communication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61AA0-B15F-3BA1-6B1E-8635AA1DC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6" t="15061" r="4295" b="8260"/>
          <a:stretch>
            <a:fillRect/>
          </a:stretch>
        </p:blipFill>
        <p:spPr>
          <a:xfrm>
            <a:off x="1299175" y="2443264"/>
            <a:ext cx="6644640" cy="272796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72EB6C1-7C4D-DDCC-1DE7-24056FAAC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399" y="1019431"/>
            <a:ext cx="813998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I²C is a communication protocol between a microcontroller and multiple peripherals using only </a:t>
            </a:r>
            <a:r>
              <a:rPr lang="en-US" altLang="en-US" sz="1800" b="1" dirty="0">
                <a:latin typeface="Arial" panose="020B0604020202020204" pitchFamily="34" charset="0"/>
              </a:rPr>
              <a:t>two lines: SCL and SDA</a:t>
            </a:r>
            <a:r>
              <a:rPr lang="en-US" altLang="en-US" sz="1800" dirty="0">
                <a:latin typeface="Arial" panose="020B0604020202020204" pitchFamily="34" charset="0"/>
              </a:rPr>
              <a:t>. [6]</a:t>
            </a:r>
            <a:endParaRPr lang="ar-SA" altLang="en-US" sz="1800" dirty="0">
              <a:latin typeface="Arial" panose="020B0604020202020204" pitchFamily="34" charset="0"/>
            </a:endParaRPr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r>
              <a:rPr lang="en-US" sz="1800" dirty="0"/>
              <a:t>The bus uses an </a:t>
            </a:r>
            <a:r>
              <a:rPr lang="en-US" sz="1800" b="1" dirty="0"/>
              <a:t>open-drain structure</a:t>
            </a:r>
            <a:r>
              <a:rPr lang="en-US" sz="1800" dirty="0"/>
              <a:t>, meaning devices can only pull the line LOW</a:t>
            </a:r>
            <a:endParaRPr lang="ar-SA" sz="1800" dirty="0"/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r>
              <a:rPr lang="en-US" sz="1800" b="1" dirty="0"/>
              <a:t>Pull-up resistors</a:t>
            </a:r>
            <a:r>
              <a:rPr lang="en-US" sz="1800" dirty="0"/>
              <a:t> are used to pull the signal HIGH and ensure proper logic levels</a:t>
            </a:r>
            <a:endParaRPr lang="ar-SA" sz="1800" dirty="0"/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BC33A-8DD6-5E7D-7EC0-8F383FF287A6}"/>
              </a:ext>
            </a:extLst>
          </p:cNvPr>
          <p:cNvSpPr txBox="1"/>
          <p:nvPr/>
        </p:nvSpPr>
        <p:spPr>
          <a:xfrm>
            <a:off x="731397" y="5085563"/>
            <a:ext cx="7589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>
              <a:spcBef>
                <a:spcPct val="0"/>
              </a:spcBef>
              <a:buFontTx/>
              <a:buChar char="•"/>
            </a:pPr>
            <a:r>
              <a:rPr lang="en-US" sz="1800" dirty="0"/>
              <a:t>External pull-up resistors are added in parallel to reduce equivalent resistance and improve </a:t>
            </a:r>
            <a:r>
              <a:rPr lang="en-US" sz="1800" b="1" dirty="0"/>
              <a:t>noise</a:t>
            </a:r>
            <a:endParaRPr lang="ar-SA" sz="1800" b="1" dirty="0"/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r>
              <a:rPr lang="en-US" sz="1800" dirty="0"/>
              <a:t>This helps mitigate </a:t>
            </a:r>
            <a:r>
              <a:rPr lang="en-US" sz="1800" b="1" dirty="0"/>
              <a:t>EMF effects and ensures stable data transmission</a:t>
            </a:r>
            <a:r>
              <a:rPr lang="en-US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2061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51303-4919-8B96-76CE-EB0D7EE7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96DFD747-A135-CEC8-9126-EC3B05D67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C007368E-2CF3-9404-F54F-E19E9F5AB011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92286009-8A33-1506-3929-98D7312EB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88F36-BD8B-CFDA-3434-DB160F1C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79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Circuit Design</a:t>
            </a:r>
            <a:endParaRPr 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6D9FD-20D3-6F6F-967A-F25186651D45}"/>
              </a:ext>
            </a:extLst>
          </p:cNvPr>
          <p:cNvSpPr txBox="1"/>
          <p:nvPr/>
        </p:nvSpPr>
        <p:spPr>
          <a:xfrm>
            <a:off x="116608" y="1932624"/>
            <a:ext cx="301752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Actuator domain (5 V): </a:t>
            </a:r>
            <a:r>
              <a:rPr lang="en-US" dirty="0"/>
              <a:t>TB6612FNG motor drivers and servo motor.</a:t>
            </a:r>
            <a:endParaRPr lang="ar-SA" dirty="0"/>
          </a:p>
          <a:p>
            <a:r>
              <a:rPr lang="en-US" b="1" dirty="0"/>
              <a:t>Logic 5 V domain: ESP32, </a:t>
            </a:r>
            <a:r>
              <a:rPr lang="en-US" dirty="0"/>
              <a:t>TCA9548A, ultrasonic sensors, and receiver</a:t>
            </a:r>
            <a:r>
              <a:rPr lang="en-US" b="1" dirty="0"/>
              <a:t>.</a:t>
            </a:r>
            <a:endParaRPr lang="ar-SA" b="1" dirty="0"/>
          </a:p>
          <a:p>
            <a:r>
              <a:rPr lang="en-US" b="1" dirty="0"/>
              <a:t>Sensor 3.3 V domain</a:t>
            </a:r>
            <a:r>
              <a:rPr lang="en-US" dirty="0"/>
              <a:t>: AS5600 encoder.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EBB97-1167-8BE0-98FC-AD2FDBF89BAD}"/>
              </a:ext>
            </a:extLst>
          </p:cNvPr>
          <p:cNvSpPr txBox="1"/>
          <p:nvPr/>
        </p:nvSpPr>
        <p:spPr>
          <a:xfrm>
            <a:off x="-6110" y="974241"/>
            <a:ext cx="9378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/>
                <a:ea typeface="MS PGothic"/>
                <a:cs typeface="Calibri"/>
              </a:rPr>
              <a:t>The system is powered by a 12 V, 6 A power supply.</a:t>
            </a:r>
            <a:endParaRPr lang="ar-SA" b="1" dirty="0">
              <a:latin typeface="Calibri"/>
              <a:ea typeface="MS PGothic"/>
              <a:cs typeface="Calibri"/>
            </a:endParaRPr>
          </a:p>
          <a:p>
            <a:r>
              <a:rPr lang="en-US" dirty="0"/>
              <a:t>To reduce noise and voltage fluctuations, the power is divided into three isolated domains</a:t>
            </a:r>
            <a:r>
              <a:rPr lang="en-US" b="1" dirty="0"/>
              <a:t>:</a:t>
            </a:r>
            <a:endParaRPr lang="ar-SA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AAC93-5797-0080-952E-8D16FCB24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432" y="1932624"/>
            <a:ext cx="5877718" cy="41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64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19F1-051E-7FD0-D63B-7FE60EF4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8DBF1796-03EB-A1D1-EAA2-936AFC2B1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4C5E68FE-5AF1-37E9-C2AA-6C4B0B4C479B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D3E2398F-12CD-F27E-F8F6-C092B4D7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F691A-6990-A07E-355F-0F922318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84138"/>
            <a:ext cx="8229600" cy="1143000"/>
          </a:xfrm>
        </p:spPr>
        <p:txBody>
          <a:bodyPr/>
          <a:lstStyle/>
          <a:p>
            <a:r>
              <a:rPr lang="en-US" sz="3400" dirty="0"/>
              <a:t>PCB Design and Current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8C5E5-4E5E-529D-3E9C-8C99F8570D68}"/>
              </a:ext>
            </a:extLst>
          </p:cNvPr>
          <p:cNvSpPr txBox="1"/>
          <p:nvPr/>
        </p:nvSpPr>
        <p:spPr>
          <a:xfrm>
            <a:off x="441960" y="1039564"/>
            <a:ext cx="79309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MS PGothic"/>
                <a:cs typeface="Calibri"/>
              </a:rPr>
              <a:t>The PCB was designed for fast lab prototyping using a single-layer layout to simplify CNC manufacturing.</a:t>
            </a:r>
            <a:endParaRPr lang="ar-SA" dirty="0">
              <a:latin typeface="Calibri"/>
              <a:ea typeface="MS PGothic"/>
              <a:cs typeface="Calibri"/>
            </a:endParaRPr>
          </a:p>
          <a:p>
            <a:r>
              <a:rPr lang="en-US" dirty="0"/>
              <a:t>crossovers were solved using </a:t>
            </a:r>
            <a:r>
              <a:rPr lang="en-US" b="1" dirty="0"/>
              <a:t>bottom-side wire routing</a:t>
            </a:r>
            <a:endParaRPr lang="ar-SA" b="1" dirty="0"/>
          </a:p>
          <a:p>
            <a:r>
              <a:rPr lang="en-US" b="1" dirty="0"/>
              <a:t>Trace width design:</a:t>
            </a:r>
            <a:r>
              <a:rPr lang="ar-SA" b="1" dirty="0"/>
              <a:t> </a:t>
            </a:r>
            <a:r>
              <a:rPr lang="en-US" b="1" dirty="0"/>
              <a:t>1 mm width</a:t>
            </a:r>
            <a:r>
              <a:rPr lang="en-US" dirty="0"/>
              <a:t> to safely carry up to </a:t>
            </a:r>
            <a:r>
              <a:rPr lang="en-US" b="1" dirty="0"/>
              <a:t>2 A</a:t>
            </a:r>
            <a:endParaRPr lang="ar-SA" b="1" dirty="0"/>
          </a:p>
          <a:p>
            <a:r>
              <a:rPr lang="en-US" dirty="0"/>
              <a:t>CNC 3018 isolation milling machine</a:t>
            </a:r>
            <a:r>
              <a:rPr lang="ar-SA" dirty="0"/>
              <a:t> </a:t>
            </a:r>
            <a:r>
              <a:rPr lang="en-US" dirty="0"/>
              <a:t>,probing for height mapping ,Soldering,</a:t>
            </a:r>
            <a:r>
              <a:rPr lang="en-US" b="1" dirty="0"/>
              <a:t> </a:t>
            </a:r>
            <a:r>
              <a:rPr lang="en-US" dirty="0"/>
              <a:t>testing 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3F677-6337-C180-1377-C9D480F6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612" y="2506180"/>
            <a:ext cx="5663913" cy="39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74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66DE-5A53-9CC9-49EC-58450CE7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ED6A2F18-C4D4-19D5-6C4B-1B1FFBB92F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8E8B706A-65FF-A286-5D92-D9158740DE3C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B14B8559-4FF4-BA53-0723-82437C06A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8BAAE-8FEB-510A-7743-999E5430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Control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0916E-75D8-503F-087D-BBEAEA04E526}"/>
              </a:ext>
            </a:extLst>
          </p:cNvPr>
          <p:cNvSpPr txBox="1"/>
          <p:nvPr/>
        </p:nvSpPr>
        <p:spPr>
          <a:xfrm>
            <a:off x="306817" y="1609686"/>
            <a:ext cx="25872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Due to variations between manufacturers and incomplete datasheet data, the DC motor is approximated as a first-order system.</a:t>
            </a:r>
          </a:p>
          <a:p>
            <a:endParaRPr lang="en-US" dirty="0"/>
          </a:p>
          <a:p>
            <a:r>
              <a:rPr lang="en-US" dirty="0"/>
              <a:t>For speed tracking, a PI controller is sufficient to ensure stable performance.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8EFEE-100A-9257-0420-B1214DABD38E}"/>
              </a:ext>
            </a:extLst>
          </p:cNvPr>
          <p:cNvSpPr txBox="1"/>
          <p:nvPr/>
        </p:nvSpPr>
        <p:spPr>
          <a:xfrm>
            <a:off x="463310" y="1223639"/>
            <a:ext cx="465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PI Controller[7]</a:t>
            </a:r>
            <a:r>
              <a:rPr lang="en-US" dirty="0">
                <a:ea typeface="MS PGothic"/>
                <a:cs typeface="Calibri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EC851-5562-D75D-5818-5BDAFAAB2F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159"/>
          <a:stretch>
            <a:fillRect/>
          </a:stretch>
        </p:blipFill>
        <p:spPr>
          <a:xfrm>
            <a:off x="3170617" y="4256223"/>
            <a:ext cx="5856627" cy="2126321"/>
          </a:xfrm>
          <a:prstGeom prst="rect">
            <a:avLst/>
          </a:prstGeom>
        </p:spPr>
      </p:pic>
      <p:pic>
        <p:nvPicPr>
          <p:cNvPr id="6" name="video5870574549594021750">
            <a:hlinkClick r:id="" action="ppaction://media"/>
            <a:extLst>
              <a:ext uri="{FF2B5EF4-FFF2-40B4-BE49-F238E27FC236}">
                <a16:creationId xmlns:a16="http://schemas.microsoft.com/office/drawing/2014/main" id="{B57A766F-0871-6AD2-1E54-1A5AF9C11B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70617" y="1112421"/>
            <a:ext cx="5856627" cy="309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7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5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08EE-A356-8604-3472-A6B6D85D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71143568-D600-F672-AAFD-3538F21B0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81B52BD5-0D53-3C62-0076-C17A89754B98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8770A22C-48A4-239E-0399-7D0A031FE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BB1B4A-C41D-6E50-4B95-7B43ED6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Embedded system</a:t>
            </a:r>
            <a:endParaRPr lang="en-US" sz="3400" dirty="0"/>
          </a:p>
        </p:txBody>
      </p:sp>
      <p:pic>
        <p:nvPicPr>
          <p:cNvPr id="5" name="Content Placeholder 13">
            <a:extLst>
              <a:ext uri="{FF2B5EF4-FFF2-40B4-BE49-F238E27FC236}">
                <a16:creationId xmlns:a16="http://schemas.microsoft.com/office/drawing/2014/main" id="{3AD0C6B4-1FD3-19B3-85D5-2EEBC2FB9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937141" y="1352324"/>
            <a:ext cx="7199153" cy="480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5613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9E3B-4F29-756E-0E95-12B8C966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A6D302E0-CE8B-053C-F596-0579A6E52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3C454D83-B65C-8E8C-15FC-F9F750DC5DF7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7D310F89-129E-7D5B-D8B7-CCF537966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3C07D-D35C-6F02-531D-5FAE1ED3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48880"/>
          </a:xfrm>
        </p:spPr>
        <p:txBody>
          <a:bodyPr/>
          <a:lstStyle/>
          <a:p>
            <a:r>
              <a:rPr lang="en-US" dirty="0">
                <a:ea typeface="MS PGothic"/>
                <a:cs typeface="Calibri"/>
              </a:rPr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53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968F-BC4B-8439-A371-1C316454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3.tif">
            <a:extLst>
              <a:ext uri="{FF2B5EF4-FFF2-40B4-BE49-F238E27FC236}">
                <a16:creationId xmlns:a16="http://schemas.microsoft.com/office/drawing/2014/main" id="{B56FA57F-1511-2E6A-F6FA-6958406D0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1AFF0F1F-D86A-8CEC-F40F-2C627BD1474C}"/>
              </a:ext>
            </a:extLst>
          </p:cNvPr>
          <p:cNvSpPr txBox="1"/>
          <p:nvPr/>
        </p:nvSpPr>
        <p:spPr>
          <a:xfrm>
            <a:off x="7219950" y="6432550"/>
            <a:ext cx="18542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www.</a:t>
            </a:r>
            <a:r>
              <a:rPr lang="tr-TR" b="1" dirty="0">
                <a:solidFill>
                  <a:schemeClr val="accent1">
                    <a:lumMod val="50000"/>
                  </a:schemeClr>
                </a:solidFill>
              </a:rPr>
              <a:t>aybu</a:t>
            </a:r>
            <a:r>
              <a:rPr lang="tr-TR" dirty="0">
                <a:solidFill>
                  <a:schemeClr val="accent1">
                    <a:lumMod val="50000"/>
                  </a:schemeClr>
                </a:solidFill>
              </a:rPr>
              <a:t>.edu.tr</a:t>
            </a:r>
          </a:p>
        </p:txBody>
      </p:sp>
      <p:sp>
        <p:nvSpPr>
          <p:cNvPr id="6149" name="İçerik Yer Tutucusu 2">
            <a:extLst>
              <a:ext uri="{FF2B5EF4-FFF2-40B4-BE49-F238E27FC236}">
                <a16:creationId xmlns:a16="http://schemas.microsoft.com/office/drawing/2014/main" id="{022FFBD6-6F65-541D-0B00-E3EC630CE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en-US" altLang="en-US" dirty="0">
              <a:cs typeface="Calibri"/>
            </a:endParaRPr>
          </a:p>
          <a:p>
            <a:pPr algn="just"/>
            <a:endParaRPr lang="tr-TR" altLang="en-US" dirty="0"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44B479-5C5C-D694-30AB-DF0C20D6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400" dirty="0">
                <a:ea typeface="MS PGothic"/>
                <a:cs typeface="Calibri"/>
              </a:rPr>
              <a:t>References</a:t>
            </a:r>
            <a:endParaRPr lang="en-US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5CFD5-9A6D-6241-B1BD-3B1195E694C3}"/>
              </a:ext>
            </a:extLst>
          </p:cNvPr>
          <p:cNvSpPr txBox="1"/>
          <p:nvPr/>
        </p:nvSpPr>
        <p:spPr>
          <a:xfrm>
            <a:off x="460267" y="1227382"/>
            <a:ext cx="843825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[1] J. </a:t>
            </a:r>
            <a:r>
              <a:rPr lang="en-US" sz="1500" b="1" dirty="0" err="1">
                <a:latin typeface="Calibri"/>
                <a:ea typeface="Calibri"/>
                <a:cs typeface="Calibri"/>
              </a:rPr>
              <a:t>Nocedal</a:t>
            </a:r>
            <a:r>
              <a:rPr lang="en-US" sz="1500" b="1" dirty="0">
                <a:latin typeface="Calibri"/>
                <a:ea typeface="Calibri"/>
                <a:cs typeface="Calibri"/>
              </a:rPr>
              <a:t> and S. J. Wright, </a:t>
            </a:r>
            <a:r>
              <a:rPr lang="en-US" sz="1500" b="1" i="1" dirty="0">
                <a:latin typeface="Calibri"/>
                <a:ea typeface="Calibri"/>
                <a:cs typeface="Calibri"/>
              </a:rPr>
              <a:t>Numerical optimization</a:t>
            </a:r>
            <a:r>
              <a:rPr lang="en-US" sz="1500" b="1" dirty="0">
                <a:latin typeface="Calibri"/>
                <a:ea typeface="Calibri"/>
                <a:cs typeface="Calibri"/>
              </a:rPr>
              <a:t>. Springer, 2006. </a:t>
            </a:r>
          </a:p>
          <a:p>
            <a:pPr marL="285750" indent="-285750">
              <a:buFont typeface="Arial"/>
              <a:buChar char="•"/>
            </a:pPr>
            <a:endParaRPr lang="en-US" sz="1500" b="1" dirty="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[2] T. Chai, R. R. Draxler, et al., “Root mean square error (</a:t>
            </a:r>
            <a:r>
              <a:rPr lang="en-US" sz="1500" b="1" dirty="0" err="1">
                <a:latin typeface="Calibri"/>
                <a:ea typeface="Calibri"/>
                <a:cs typeface="Calibri"/>
              </a:rPr>
              <a:t>rmse</a:t>
            </a:r>
            <a:r>
              <a:rPr lang="en-US" sz="1500" b="1" dirty="0">
                <a:latin typeface="Calibri"/>
                <a:ea typeface="Calibri"/>
                <a:cs typeface="Calibri"/>
              </a:rPr>
              <a:t>) or mean</a:t>
            </a:r>
          </a:p>
          <a:p>
            <a:pPr marL="285750" indent="-285750">
              <a:buFont typeface="Arial"/>
              <a:buChar char="•"/>
            </a:pPr>
            <a:endParaRPr lang="en-US" sz="1500" b="1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[3] J. </a:t>
            </a:r>
            <a:r>
              <a:rPr lang="en-US" sz="1500" b="1" dirty="0" err="1">
                <a:latin typeface="Calibri"/>
                <a:ea typeface="Calibri"/>
                <a:cs typeface="Calibri"/>
              </a:rPr>
              <a:t>Bergstra</a:t>
            </a:r>
            <a:r>
              <a:rPr lang="en-US" sz="1500" b="1" dirty="0">
                <a:latin typeface="Calibri"/>
                <a:ea typeface="Calibri"/>
                <a:cs typeface="Calibri"/>
              </a:rPr>
              <a:t> and Y. Bengio, “Random search for hyper-parameter optimization.,” </a:t>
            </a:r>
            <a:r>
              <a:rPr lang="en-US" sz="1500" b="1" i="1" dirty="0">
                <a:latin typeface="Calibri"/>
                <a:ea typeface="Calibri"/>
                <a:cs typeface="Calibri"/>
              </a:rPr>
              <a:t>Journal of machine learning research</a:t>
            </a:r>
            <a:r>
              <a:rPr lang="en-US" sz="1500" b="1" dirty="0">
                <a:latin typeface="Calibri"/>
                <a:ea typeface="Calibri"/>
                <a:cs typeface="Calibri"/>
              </a:rPr>
              <a:t>, vol. 13, no. 2, 2012. </a:t>
            </a:r>
          </a:p>
          <a:p>
            <a:pPr marL="285750" indent="-285750">
              <a:buFont typeface="Arial"/>
              <a:buChar char="•"/>
            </a:pPr>
            <a:endParaRPr lang="en-US" sz="1500" b="1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     [4] A. P. Stoicescu, “On the optimization of an </a:t>
            </a:r>
            <a:r>
              <a:rPr lang="en-US" sz="1500" b="1" dirty="0" err="1">
                <a:latin typeface="Calibri"/>
                <a:ea typeface="Calibri"/>
                <a:cs typeface="Calibri"/>
              </a:rPr>
              <a:t>ackermann</a:t>
            </a:r>
            <a:r>
              <a:rPr lang="en-US" sz="1500" b="1" dirty="0">
                <a:latin typeface="Calibri"/>
                <a:ea typeface="Calibri"/>
                <a:cs typeface="Calibri"/>
              </a:rPr>
              <a:t> steering linkage,” </a:t>
            </a:r>
            <a:r>
              <a:rPr lang="en-US" sz="1500" b="1" i="1" dirty="0">
                <a:latin typeface="Calibri"/>
                <a:ea typeface="Calibri"/>
                <a:cs typeface="Calibri"/>
              </a:rPr>
              <a:t>UPB Scientific Bulletin, Series D: Mech Engi</a:t>
            </a:r>
            <a:r>
              <a:rPr lang="en-US" sz="1500" b="1" dirty="0">
                <a:latin typeface="Calibri"/>
                <a:ea typeface="Calibri"/>
                <a:cs typeface="Calibri"/>
              </a:rPr>
              <a:t>, vol. 75, no. 4, pp. 5–9, 2013. </a:t>
            </a:r>
          </a:p>
          <a:p>
            <a:pPr>
              <a:buFont typeface="Arial"/>
              <a:buChar char="•"/>
            </a:pPr>
            <a:endParaRPr lang="en-US" sz="1500" b="1" dirty="0">
              <a:latin typeface="Calibri"/>
            </a:endParaRPr>
          </a:p>
          <a:p>
            <a:pPr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    [5] D. Bastow, “Steering mechanisms,” </a:t>
            </a:r>
            <a:r>
              <a:rPr lang="en-US" sz="1500" b="1" i="1" dirty="0">
                <a:latin typeface="Calibri"/>
                <a:ea typeface="Calibri"/>
                <a:cs typeface="Calibri"/>
              </a:rPr>
              <a:t>Proceedings of the Institution of Mechanical Engineers: Automobile Division</a:t>
            </a:r>
            <a:r>
              <a:rPr lang="en-US" sz="1500" b="1" dirty="0">
                <a:latin typeface="Calibri"/>
                <a:ea typeface="Calibri"/>
                <a:cs typeface="Calibri"/>
              </a:rPr>
              <a:t>, vol. 184, no. 1, pp. 137–156, 1969</a:t>
            </a:r>
          </a:p>
          <a:p>
            <a:pPr>
              <a:buFont typeface="Arial"/>
              <a:buChar char="•"/>
            </a:pPr>
            <a:endParaRPr lang="en-US" sz="1500" b="1" dirty="0">
              <a:latin typeface="Calibri"/>
            </a:endParaRPr>
          </a:p>
          <a:p>
            <a:pPr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      [6] 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NXP, I²C Bus Specification UM10204, 2021. </a:t>
            </a:r>
          </a:p>
          <a:p>
            <a:pPr>
              <a:buFont typeface="Arial"/>
              <a:buChar char="•"/>
            </a:pP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500" b="1" dirty="0">
                <a:latin typeface="Calibri"/>
                <a:ea typeface="Calibri"/>
                <a:cs typeface="Calibri"/>
              </a:rPr>
              <a:t>      [</a:t>
            </a:r>
            <a:r>
              <a:rPr lang="en-US" sz="1500" b="1" i="1" dirty="0">
                <a:latin typeface="Calibri"/>
                <a:ea typeface="Calibri"/>
                <a:cs typeface="Calibri"/>
              </a:rPr>
              <a:t>7]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 K. Ogata, </a:t>
            </a: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Modern Control Engineering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, 2010. </a:t>
            </a:r>
            <a:endParaRPr lang="en-US" sz="1500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69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5232</TotalTime>
  <Words>1182</Words>
  <Application>Microsoft Office PowerPoint</Application>
  <PresentationFormat>On-screen Show (4:3)</PresentationFormat>
  <Paragraphs>217</Paragraphs>
  <Slides>25</Slides>
  <Notes>22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MS PGothic</vt:lpstr>
      <vt:lpstr>Arial</vt:lpstr>
      <vt:lpstr>Calibri</vt:lpstr>
      <vt:lpstr>Cambria Math</vt:lpstr>
      <vt:lpstr>Times New Roman</vt:lpstr>
      <vt:lpstr>Office Theme</vt:lpstr>
      <vt:lpstr>DEPARTMENT of MECHANICAL ENGINEERING GRADUATION PROJECT</vt:lpstr>
      <vt:lpstr>Content</vt:lpstr>
      <vt:lpstr>Scope &amp; Objective</vt:lpstr>
      <vt:lpstr>Introduction</vt:lpstr>
      <vt:lpstr>Introduction</vt:lpstr>
      <vt:lpstr>PowerPoint Presentation</vt:lpstr>
      <vt:lpstr>The Custom 6-bar Mechanism</vt:lpstr>
      <vt:lpstr>Optimization</vt:lpstr>
      <vt:lpstr>Result of 6-link &amp; 4-link surface Optimization</vt:lpstr>
      <vt:lpstr>Optimized Linkage Comparison of 6-link &amp; 4-link </vt:lpstr>
      <vt:lpstr>Grid size &amp;optimization performance</vt:lpstr>
      <vt:lpstr>PowerPoint Presentation</vt:lpstr>
      <vt:lpstr>Random Search Optimization</vt:lpstr>
      <vt:lpstr>Comparative Random Search &amp; Grid Search Optimization</vt:lpstr>
      <vt:lpstr>Mechanical Design &amp; Manufacturing</vt:lpstr>
      <vt:lpstr>Manufacturing The Car</vt:lpstr>
      <vt:lpstr>Electronics Design &amp; Implementation</vt:lpstr>
      <vt:lpstr>PowerPoint Presentation</vt:lpstr>
      <vt:lpstr>I2C Communication</vt:lpstr>
      <vt:lpstr>Circuit Design</vt:lpstr>
      <vt:lpstr>PCB Design and Current Capacity</vt:lpstr>
      <vt:lpstr>Control system</vt:lpstr>
      <vt:lpstr>Embedded system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Vipart2</dc:creator>
  <cp:lastModifiedBy>Mohammed Hussein</cp:lastModifiedBy>
  <cp:revision>1017</cp:revision>
  <dcterms:created xsi:type="dcterms:W3CDTF">2017-05-02T09:21:50Z</dcterms:created>
  <dcterms:modified xsi:type="dcterms:W3CDTF">2026-06-17T20:56:58Z</dcterms:modified>
</cp:coreProperties>
</file>